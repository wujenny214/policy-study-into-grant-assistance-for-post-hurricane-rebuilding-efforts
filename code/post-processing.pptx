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8"/>
  </p:normalViewPr>
  <p:slideViewPr>
    <p:cSldViewPr snapToGrid="0">
      <p:cViewPr varScale="1">
        <p:scale>
          <a:sx n="93" d="100"/>
          <a:sy n="93" d="100"/>
        </p:scale>
        <p:origin x="24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6DC3-58E2-9DCD-9315-6BD7E6C77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B59AE-ECE4-19E0-C1A3-410DAC538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151DE-E7A3-A902-390E-63E3D180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B341-6F36-47E1-B5C0-94328CDD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DD28D-66F3-D52C-AC6D-2A5CAB14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7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45B3-8727-97C7-F6BA-DC99874F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005D-CFE9-B284-DA9E-23A52EEA6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1DD0-3833-F403-63DC-9E3F163F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21632-83CB-F6D5-DCB6-4131D936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7DD8B-75BA-8918-ABE8-6BABF7AC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2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6D4D-884A-9D64-77C9-96DA373B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0DD41-6EAF-BC2C-DF3F-82E47A16C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77031-397A-55D0-3D52-D435BF78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D5F5-5B22-B65C-6083-DDC4F013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4E239-B405-B7E3-0035-152AF029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8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C909-EA74-B149-7C67-F49FB54A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0414F-AECF-BF67-B902-54954FDEF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EDEB2-4340-9385-DBA6-4B253E8CD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E4AAC-F702-D126-82F8-B85B450F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D17DA-5E4E-45B8-E62D-B2359B1C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603-3908-566C-FB72-B5351CC4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0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E4D2-ABB5-E389-AC37-70ADEB07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0E94F-6F06-0919-D0C1-E72D08778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3B956-D344-3ACC-1503-942216E6D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357AB-3751-A4B7-20D9-30AFFDDAF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B5A15-2503-B00E-6312-E268DD88A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8BEE9-5333-16B1-5580-6414CEB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DAF03-0049-9C8E-2942-23CAE14B6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5CB87-B81C-773B-3D46-4AFED31E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0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F4F2-C5F0-E47F-1CC9-865D486A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A0E6C-6985-2863-D172-F8613EEE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1CD54-608A-0805-D36E-91CA5BB0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29AFF-40E3-815D-DDDE-FEFA256F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6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34F66-317A-12EB-5A03-D89A368F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03DB5-DACE-322C-AF99-D61C7EEC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E72B1-667D-7774-E6F2-80EE3363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5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5AFE-8917-ED5E-4DC4-66117982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71A9-A315-F8B2-AD6C-85E12E27D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B1C47-99CD-784C-FDBC-A358D8122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CC554-F752-CC0D-DCC1-620E3B31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AF841-5665-7894-8B61-B9451486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7DA76-8B76-0AE3-786B-B62AD51F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00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41DA-E78C-E4B1-621B-2C2502BD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B4C04-7F7A-2A34-5C9D-3AD0ED26D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EACAC-E17C-B2A2-B9FF-74A4BFCAC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16E8D-3D49-3BEF-56AE-912F3ADD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21860-28C1-95EF-6A1E-58C08D3D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360F1-DE3B-9B40-E5FA-98E71E3D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65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EB93-098B-C207-3711-7B866BC9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D67B1-FA9D-57DB-CA4D-116B23CFE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EA3A-D039-B135-3B3F-E26BC057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C3FD3-4F86-C7F5-B767-1DDE3E6E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A1B40-5F0E-04FD-760C-11B47A8D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3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4A5BD3-17F3-0B16-DC64-29598CE62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DB7A4-5E3E-3B90-B72D-CFE21ABF1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E20A8-9CD5-C617-8957-6F680FA7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47B88-0547-4EE2-CE36-BC63E8C3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E39EC-CA84-FD07-CB64-A37EAB1E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5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95748-399D-28F4-3080-7AD6159A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74DC7-BF4E-A5BA-9E53-17E53CA4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49EC3-4E2C-D828-CD24-59BC90DFD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86E21-265F-4441-9330-EE7D165159E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6EBA3-4DBE-0DB0-B9F3-73455D45E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1B7DE-E9CF-1E0C-2A4B-0A3CF2108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BFA30-97E3-624C-B163-2FEEEC1A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4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ED211B8C-D5FF-57B3-8B55-2CAB81E4B8FB}"/>
              </a:ext>
            </a:extLst>
          </p:cNvPr>
          <p:cNvSpPr/>
          <p:nvPr/>
        </p:nvSpPr>
        <p:spPr>
          <a:xfrm>
            <a:off x="2303045" y="312821"/>
            <a:ext cx="7772400" cy="6545179"/>
          </a:xfrm>
          <a:custGeom>
            <a:avLst/>
            <a:gdLst>
              <a:gd name="connsiteX0" fmla="*/ 0 w 7772400"/>
              <a:gd name="connsiteY0" fmla="*/ 6545179 h 6545179"/>
              <a:gd name="connsiteX1" fmla="*/ 7772400 w 7772400"/>
              <a:gd name="connsiteY1" fmla="*/ 6545179 h 6545179"/>
              <a:gd name="connsiteX2" fmla="*/ 7772400 w 7772400"/>
              <a:gd name="connsiteY2" fmla="*/ 0 h 6545179"/>
              <a:gd name="connsiteX3" fmla="*/ 0 w 7772400"/>
              <a:gd name="connsiteY3" fmla="*/ 0 h 6545179"/>
              <a:gd name="connsiteX4" fmla="*/ 0 w 7772400"/>
              <a:gd name="connsiteY4" fmla="*/ 6545179 h 654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2400" h="6545179">
                <a:moveTo>
                  <a:pt x="0" y="6545179"/>
                </a:moveTo>
                <a:lnTo>
                  <a:pt x="7772400" y="6545179"/>
                </a:lnTo>
                <a:lnTo>
                  <a:pt x="7772400" y="0"/>
                </a:lnTo>
                <a:lnTo>
                  <a:pt x="0" y="0"/>
                </a:lnTo>
                <a:lnTo>
                  <a:pt x="0" y="6545179"/>
                </a:lnTo>
                <a:close/>
              </a:path>
            </a:pathLst>
          </a:custGeom>
          <a:noFill/>
          <a:ln w="10795" cap="flat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5" name="Graphic 21">
            <a:extLst>
              <a:ext uri="{FF2B5EF4-FFF2-40B4-BE49-F238E27FC236}">
                <a16:creationId xmlns:a16="http://schemas.microsoft.com/office/drawing/2014/main" id="{00392E19-F957-8FCC-9071-EAA6EC289755}"/>
              </a:ext>
            </a:extLst>
          </p:cNvPr>
          <p:cNvGrpSpPr/>
          <p:nvPr/>
        </p:nvGrpSpPr>
        <p:grpSpPr>
          <a:xfrm>
            <a:off x="2214077" y="301457"/>
            <a:ext cx="7755577" cy="6435853"/>
            <a:chOff x="1961414" y="301457"/>
            <a:chExt cx="7755577" cy="6435853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451C023-5265-A411-B7EE-7F786DEFD602}"/>
                </a:ext>
              </a:extLst>
            </p:cNvPr>
            <p:cNvSpPr/>
            <p:nvPr/>
          </p:nvSpPr>
          <p:spPr>
            <a:xfrm>
              <a:off x="3020528" y="923565"/>
              <a:ext cx="6685667" cy="5454908"/>
            </a:xfrm>
            <a:custGeom>
              <a:avLst/>
              <a:gdLst>
                <a:gd name="connsiteX0" fmla="*/ 0 w 6685667"/>
                <a:gd name="connsiteY0" fmla="*/ 5454909 h 5454908"/>
                <a:gd name="connsiteX1" fmla="*/ 6685668 w 6685667"/>
                <a:gd name="connsiteY1" fmla="*/ 5454909 h 5454908"/>
                <a:gd name="connsiteX2" fmla="*/ 6685668 w 6685667"/>
                <a:gd name="connsiteY2" fmla="*/ 0 h 5454908"/>
                <a:gd name="connsiteX3" fmla="*/ 0 w 6685667"/>
                <a:gd name="connsiteY3" fmla="*/ 0 h 5454908"/>
                <a:gd name="connsiteX4" fmla="*/ 0 w 6685667"/>
                <a:gd name="connsiteY4" fmla="*/ 5454909 h 5454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85667" h="5454908">
                  <a:moveTo>
                    <a:pt x="0" y="5454909"/>
                  </a:moveTo>
                  <a:lnTo>
                    <a:pt x="6685668" y="5454909"/>
                  </a:lnTo>
                  <a:lnTo>
                    <a:pt x="6685668" y="0"/>
                  </a:lnTo>
                  <a:lnTo>
                    <a:pt x="0" y="0"/>
                  </a:lnTo>
                  <a:lnTo>
                    <a:pt x="0" y="5454909"/>
                  </a:lnTo>
                  <a:close/>
                </a:path>
              </a:pathLst>
            </a:custGeom>
            <a:noFill/>
            <a:ln w="1079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23B0B44-DB77-7CCC-3BF1-2DCCF9277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3019341" y="923704"/>
              <a:ext cx="6689445" cy="5457042"/>
            </a:xfrm>
            <a:custGeom>
              <a:avLst/>
              <a:gdLst>
                <a:gd name="connsiteX0" fmla="*/ 0 w 6689445"/>
                <a:gd name="connsiteY0" fmla="*/ 108 h 5457042"/>
                <a:gd name="connsiteX1" fmla="*/ 6689446 w 6689445"/>
                <a:gd name="connsiteY1" fmla="*/ 108 h 5457042"/>
                <a:gd name="connsiteX2" fmla="*/ 6689446 w 6689445"/>
                <a:gd name="connsiteY2" fmla="*/ 5457151 h 5457042"/>
                <a:gd name="connsiteX3" fmla="*/ 0 w 6689445"/>
                <a:gd name="connsiteY3" fmla="*/ 5457151 h 545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89445" h="5457042">
                  <a:moveTo>
                    <a:pt x="0" y="108"/>
                  </a:moveTo>
                  <a:lnTo>
                    <a:pt x="6689446" y="108"/>
                  </a:lnTo>
                  <a:lnTo>
                    <a:pt x="6689446" y="5457151"/>
                  </a:lnTo>
                  <a:lnTo>
                    <a:pt x="0" y="5457151"/>
                  </a:lnTo>
                  <a:close/>
                </a:path>
              </a:pathLst>
            </a:custGeom>
          </p:spPr>
        </p:pic>
        <p:grpSp>
          <p:nvGrpSpPr>
            <p:cNvPr id="28" name="Graphic 21">
              <a:extLst>
                <a:ext uri="{FF2B5EF4-FFF2-40B4-BE49-F238E27FC236}">
                  <a16:creationId xmlns:a16="http://schemas.microsoft.com/office/drawing/2014/main" id="{64CCB080-85DC-5EBD-78E2-4ED8C8D4ABDE}"/>
                </a:ext>
              </a:extLst>
            </p:cNvPr>
            <p:cNvGrpSpPr/>
            <p:nvPr/>
          </p:nvGrpSpPr>
          <p:grpSpPr>
            <a:xfrm>
              <a:off x="2948484" y="6378474"/>
              <a:ext cx="6295332" cy="358836"/>
              <a:chOff x="2948484" y="6378474"/>
              <a:chExt cx="6295332" cy="358836"/>
            </a:xfrm>
            <a:solidFill>
              <a:srgbClr val="000000"/>
            </a:solidFill>
          </p:grpSpPr>
          <p:grpSp>
            <p:nvGrpSpPr>
              <p:cNvPr id="29" name="Graphic 21">
                <a:extLst>
                  <a:ext uri="{FF2B5EF4-FFF2-40B4-BE49-F238E27FC236}">
                    <a16:creationId xmlns:a16="http://schemas.microsoft.com/office/drawing/2014/main" id="{163F4A07-EC10-2479-608E-8A67A3E9C65A}"/>
                  </a:ext>
                </a:extLst>
              </p:cNvPr>
              <p:cNvGrpSpPr/>
              <p:nvPr/>
            </p:nvGrpSpPr>
            <p:grpSpPr>
              <a:xfrm>
                <a:off x="2948484" y="6378474"/>
                <a:ext cx="144087" cy="194775"/>
                <a:chOff x="2948484" y="6378474"/>
                <a:chExt cx="144087" cy="194775"/>
              </a:xfrm>
              <a:solidFill>
                <a:srgbClr val="000000"/>
              </a:solidFill>
            </p:grpSpPr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844BC79F-69B1-E5E7-AE51-6E0223849E3C}"/>
                    </a:ext>
                  </a:extLst>
                </p:cNvPr>
                <p:cNvSpPr/>
                <p:nvPr/>
              </p:nvSpPr>
              <p:spPr>
                <a:xfrm>
                  <a:off x="3020528" y="6378474"/>
                  <a:ext cx="10795" cy="39771"/>
                </a:xfrm>
                <a:custGeom>
                  <a:avLst/>
                  <a:gdLst>
                    <a:gd name="connsiteX0" fmla="*/ 90 w 10795"/>
                    <a:gd name="connsiteY0" fmla="*/ 534 h 39771"/>
                    <a:gd name="connsiteX1" fmla="*/ 90 w 10795"/>
                    <a:gd name="connsiteY1" fmla="*/ 40305 h 3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795" h="39771">
                      <a:moveTo>
                        <a:pt x="90" y="534"/>
                      </a:moveTo>
                      <a:lnTo>
                        <a:pt x="90" y="4030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9890D42-F861-CEA6-DDBA-DEDBDC49912C}"/>
                    </a:ext>
                  </a:extLst>
                </p:cNvPr>
                <p:cNvSpPr txBox="1"/>
                <p:nvPr/>
              </p:nvSpPr>
              <p:spPr>
                <a:xfrm>
                  <a:off x="2857044" y="6375193"/>
                  <a:ext cx="326967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$0</a:t>
                  </a:r>
                </a:p>
              </p:txBody>
            </p:sp>
          </p:grpSp>
          <p:grpSp>
            <p:nvGrpSpPr>
              <p:cNvPr id="32" name="Graphic 21">
                <a:extLst>
                  <a:ext uri="{FF2B5EF4-FFF2-40B4-BE49-F238E27FC236}">
                    <a16:creationId xmlns:a16="http://schemas.microsoft.com/office/drawing/2014/main" id="{D013DAB2-F7C1-44DA-EA7B-575E34FC91C3}"/>
                  </a:ext>
                </a:extLst>
              </p:cNvPr>
              <p:cNvGrpSpPr/>
              <p:nvPr/>
            </p:nvGrpSpPr>
            <p:grpSpPr>
              <a:xfrm>
                <a:off x="3733566" y="6378474"/>
                <a:ext cx="540298" cy="194775"/>
                <a:chOff x="3733566" y="6378474"/>
                <a:chExt cx="540298" cy="194775"/>
              </a:xfrm>
              <a:solidFill>
                <a:srgbClr val="000000"/>
              </a:solidFill>
            </p:grpSpPr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C485A1B7-A4C9-1F9A-3EE7-595FB4774168}"/>
                    </a:ext>
                  </a:extLst>
                </p:cNvPr>
                <p:cNvSpPr/>
                <p:nvPr/>
              </p:nvSpPr>
              <p:spPr>
                <a:xfrm>
                  <a:off x="4003715" y="6378474"/>
                  <a:ext cx="10795" cy="39771"/>
                </a:xfrm>
                <a:custGeom>
                  <a:avLst/>
                  <a:gdLst>
                    <a:gd name="connsiteX0" fmla="*/ 181 w 10795"/>
                    <a:gd name="connsiteY0" fmla="*/ 534 h 39771"/>
                    <a:gd name="connsiteX1" fmla="*/ 181 w 10795"/>
                    <a:gd name="connsiteY1" fmla="*/ 40305 h 3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795" h="39771">
                      <a:moveTo>
                        <a:pt x="181" y="534"/>
                      </a:moveTo>
                      <a:lnTo>
                        <a:pt x="181" y="4030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1AD8B2A-93A2-CC06-6627-3C8A6DFA031E}"/>
                    </a:ext>
                  </a:extLst>
                </p:cNvPr>
                <p:cNvSpPr txBox="1"/>
                <p:nvPr/>
              </p:nvSpPr>
              <p:spPr>
                <a:xfrm>
                  <a:off x="3642126" y="6375193"/>
                  <a:ext cx="723178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$500,000</a:t>
                  </a:r>
                </a:p>
              </p:txBody>
            </p:sp>
          </p:grpSp>
          <p:grpSp>
            <p:nvGrpSpPr>
              <p:cNvPr id="35" name="Graphic 21">
                <a:extLst>
                  <a:ext uri="{FF2B5EF4-FFF2-40B4-BE49-F238E27FC236}">
                    <a16:creationId xmlns:a16="http://schemas.microsoft.com/office/drawing/2014/main" id="{DA505A52-EE10-DB3A-28A7-EAFBF2F2B007}"/>
                  </a:ext>
                </a:extLst>
              </p:cNvPr>
              <p:cNvGrpSpPr/>
              <p:nvPr/>
            </p:nvGrpSpPr>
            <p:grpSpPr>
              <a:xfrm>
                <a:off x="4662736" y="6378474"/>
                <a:ext cx="648332" cy="194775"/>
                <a:chOff x="4662736" y="6378474"/>
                <a:chExt cx="648332" cy="194775"/>
              </a:xfrm>
              <a:solidFill>
                <a:srgbClr val="000000"/>
              </a:solidFill>
            </p:grpSpPr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25A8205E-67C9-7854-FC12-93210457ABF1}"/>
                    </a:ext>
                  </a:extLst>
                </p:cNvPr>
                <p:cNvSpPr/>
                <p:nvPr/>
              </p:nvSpPr>
              <p:spPr>
                <a:xfrm>
                  <a:off x="4986902" y="6378474"/>
                  <a:ext cx="10795" cy="39771"/>
                </a:xfrm>
                <a:custGeom>
                  <a:avLst/>
                  <a:gdLst>
                    <a:gd name="connsiteX0" fmla="*/ 272 w 10795"/>
                    <a:gd name="connsiteY0" fmla="*/ 534 h 39771"/>
                    <a:gd name="connsiteX1" fmla="*/ 272 w 10795"/>
                    <a:gd name="connsiteY1" fmla="*/ 40305 h 3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795" h="39771">
                      <a:moveTo>
                        <a:pt x="272" y="534"/>
                      </a:moveTo>
                      <a:lnTo>
                        <a:pt x="272" y="4030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39012C8-9D2C-08D4-0436-6A4B8640CB9D}"/>
                    </a:ext>
                  </a:extLst>
                </p:cNvPr>
                <p:cNvSpPr txBox="1"/>
                <p:nvPr/>
              </p:nvSpPr>
              <p:spPr>
                <a:xfrm>
                  <a:off x="4571296" y="6375193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$1,000,000</a:t>
                  </a:r>
                </a:p>
              </p:txBody>
            </p:sp>
          </p:grpSp>
          <p:grpSp>
            <p:nvGrpSpPr>
              <p:cNvPr id="38" name="Graphic 21">
                <a:extLst>
                  <a:ext uri="{FF2B5EF4-FFF2-40B4-BE49-F238E27FC236}">
                    <a16:creationId xmlns:a16="http://schemas.microsoft.com/office/drawing/2014/main" id="{E77B5B52-0A5F-A075-2036-F5B3C884DD17}"/>
                  </a:ext>
                </a:extLst>
              </p:cNvPr>
              <p:cNvGrpSpPr/>
              <p:nvPr/>
            </p:nvGrpSpPr>
            <p:grpSpPr>
              <a:xfrm>
                <a:off x="5645923" y="6378474"/>
                <a:ext cx="648332" cy="194775"/>
                <a:chOff x="5645923" y="6378474"/>
                <a:chExt cx="648332" cy="194775"/>
              </a:xfrm>
              <a:solidFill>
                <a:srgbClr val="000000"/>
              </a:solidFill>
            </p:grpSpPr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40AF4205-A2BE-C113-2405-EA4E47ED319D}"/>
                    </a:ext>
                  </a:extLst>
                </p:cNvPr>
                <p:cNvSpPr/>
                <p:nvPr/>
              </p:nvSpPr>
              <p:spPr>
                <a:xfrm>
                  <a:off x="5970089" y="6378474"/>
                  <a:ext cx="10795" cy="39771"/>
                </a:xfrm>
                <a:custGeom>
                  <a:avLst/>
                  <a:gdLst>
                    <a:gd name="connsiteX0" fmla="*/ 363 w 10795"/>
                    <a:gd name="connsiteY0" fmla="*/ 534 h 39771"/>
                    <a:gd name="connsiteX1" fmla="*/ 363 w 10795"/>
                    <a:gd name="connsiteY1" fmla="*/ 40305 h 3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795" h="39771">
                      <a:moveTo>
                        <a:pt x="363" y="534"/>
                      </a:moveTo>
                      <a:lnTo>
                        <a:pt x="363" y="4030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00E468E-9316-392B-3B24-6D17D572D423}"/>
                    </a:ext>
                  </a:extLst>
                </p:cNvPr>
                <p:cNvSpPr txBox="1"/>
                <p:nvPr/>
              </p:nvSpPr>
              <p:spPr>
                <a:xfrm>
                  <a:off x="5554483" y="6375193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$1,500,000</a:t>
                  </a:r>
                </a:p>
              </p:txBody>
            </p:sp>
          </p:grpSp>
          <p:grpSp>
            <p:nvGrpSpPr>
              <p:cNvPr id="41" name="Graphic 21">
                <a:extLst>
                  <a:ext uri="{FF2B5EF4-FFF2-40B4-BE49-F238E27FC236}">
                    <a16:creationId xmlns:a16="http://schemas.microsoft.com/office/drawing/2014/main" id="{0DC999BB-C95E-D1F1-DDF8-9AA549238C74}"/>
                  </a:ext>
                </a:extLst>
              </p:cNvPr>
              <p:cNvGrpSpPr/>
              <p:nvPr/>
            </p:nvGrpSpPr>
            <p:grpSpPr>
              <a:xfrm>
                <a:off x="6629110" y="6378474"/>
                <a:ext cx="648332" cy="194775"/>
                <a:chOff x="6629110" y="6378474"/>
                <a:chExt cx="648332" cy="194775"/>
              </a:xfrm>
              <a:solidFill>
                <a:srgbClr val="000000"/>
              </a:solidFill>
            </p:grpSpPr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1BA448A0-9656-3A54-1456-3EBC20522689}"/>
                    </a:ext>
                  </a:extLst>
                </p:cNvPr>
                <p:cNvSpPr/>
                <p:nvPr/>
              </p:nvSpPr>
              <p:spPr>
                <a:xfrm>
                  <a:off x="6953276" y="6378474"/>
                  <a:ext cx="10795" cy="39771"/>
                </a:xfrm>
                <a:custGeom>
                  <a:avLst/>
                  <a:gdLst>
                    <a:gd name="connsiteX0" fmla="*/ 454 w 10795"/>
                    <a:gd name="connsiteY0" fmla="*/ 534 h 39771"/>
                    <a:gd name="connsiteX1" fmla="*/ 454 w 10795"/>
                    <a:gd name="connsiteY1" fmla="*/ 40305 h 3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795" h="39771">
                      <a:moveTo>
                        <a:pt x="454" y="534"/>
                      </a:moveTo>
                      <a:lnTo>
                        <a:pt x="454" y="4030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54E2125-089D-B11D-9BFA-A8E2EA6E5E44}"/>
                    </a:ext>
                  </a:extLst>
                </p:cNvPr>
                <p:cNvSpPr txBox="1"/>
                <p:nvPr/>
              </p:nvSpPr>
              <p:spPr>
                <a:xfrm>
                  <a:off x="6537670" y="6375193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$2,000,000</a:t>
                  </a:r>
                </a:p>
              </p:txBody>
            </p:sp>
          </p:grpSp>
          <p:grpSp>
            <p:nvGrpSpPr>
              <p:cNvPr id="44" name="Graphic 21">
                <a:extLst>
                  <a:ext uri="{FF2B5EF4-FFF2-40B4-BE49-F238E27FC236}">
                    <a16:creationId xmlns:a16="http://schemas.microsoft.com/office/drawing/2014/main" id="{7D2B5A68-9B08-85D5-49C4-4588DC9BE0EC}"/>
                  </a:ext>
                </a:extLst>
              </p:cNvPr>
              <p:cNvGrpSpPr/>
              <p:nvPr/>
            </p:nvGrpSpPr>
            <p:grpSpPr>
              <a:xfrm>
                <a:off x="7612297" y="6378474"/>
                <a:ext cx="648332" cy="194775"/>
                <a:chOff x="7612297" y="6378474"/>
                <a:chExt cx="648332" cy="194775"/>
              </a:xfrm>
              <a:solidFill>
                <a:srgbClr val="000000"/>
              </a:solidFill>
            </p:grpSpPr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335F18FC-B0EB-9E9D-59F0-78C4BB45C079}"/>
                    </a:ext>
                  </a:extLst>
                </p:cNvPr>
                <p:cNvSpPr/>
                <p:nvPr/>
              </p:nvSpPr>
              <p:spPr>
                <a:xfrm>
                  <a:off x="7936463" y="6378474"/>
                  <a:ext cx="10795" cy="39771"/>
                </a:xfrm>
                <a:custGeom>
                  <a:avLst/>
                  <a:gdLst>
                    <a:gd name="connsiteX0" fmla="*/ 545 w 10795"/>
                    <a:gd name="connsiteY0" fmla="*/ 534 h 39771"/>
                    <a:gd name="connsiteX1" fmla="*/ 545 w 10795"/>
                    <a:gd name="connsiteY1" fmla="*/ 40305 h 3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795" h="39771">
                      <a:moveTo>
                        <a:pt x="545" y="534"/>
                      </a:moveTo>
                      <a:lnTo>
                        <a:pt x="545" y="4030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3CE7804-AD87-B85E-BB2B-632D1E0D710E}"/>
                    </a:ext>
                  </a:extLst>
                </p:cNvPr>
                <p:cNvSpPr txBox="1"/>
                <p:nvPr/>
              </p:nvSpPr>
              <p:spPr>
                <a:xfrm>
                  <a:off x="7520857" y="6375193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$2,500,000</a:t>
                  </a:r>
                </a:p>
              </p:txBody>
            </p:sp>
          </p:grpSp>
          <p:grpSp>
            <p:nvGrpSpPr>
              <p:cNvPr id="47" name="Graphic 21">
                <a:extLst>
                  <a:ext uri="{FF2B5EF4-FFF2-40B4-BE49-F238E27FC236}">
                    <a16:creationId xmlns:a16="http://schemas.microsoft.com/office/drawing/2014/main" id="{1A7EEB1C-BC4C-0350-C92E-C93E7FC29798}"/>
                  </a:ext>
                </a:extLst>
              </p:cNvPr>
              <p:cNvGrpSpPr/>
              <p:nvPr/>
            </p:nvGrpSpPr>
            <p:grpSpPr>
              <a:xfrm>
                <a:off x="8595484" y="6378474"/>
                <a:ext cx="648332" cy="194775"/>
                <a:chOff x="8595484" y="6378474"/>
                <a:chExt cx="648332" cy="194775"/>
              </a:xfrm>
              <a:solidFill>
                <a:srgbClr val="000000"/>
              </a:solidFill>
            </p:grpSpPr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D5586AEA-192F-AA35-285D-BEDE1FD18032}"/>
                    </a:ext>
                  </a:extLst>
                </p:cNvPr>
                <p:cNvSpPr/>
                <p:nvPr/>
              </p:nvSpPr>
              <p:spPr>
                <a:xfrm>
                  <a:off x="8919650" y="6378474"/>
                  <a:ext cx="10795" cy="39771"/>
                </a:xfrm>
                <a:custGeom>
                  <a:avLst/>
                  <a:gdLst>
                    <a:gd name="connsiteX0" fmla="*/ 636 w 10795"/>
                    <a:gd name="connsiteY0" fmla="*/ 534 h 39771"/>
                    <a:gd name="connsiteX1" fmla="*/ 636 w 10795"/>
                    <a:gd name="connsiteY1" fmla="*/ 40305 h 3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795" h="39771">
                      <a:moveTo>
                        <a:pt x="636" y="534"/>
                      </a:moveTo>
                      <a:lnTo>
                        <a:pt x="636" y="4030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2733BA7-9D59-401D-04B1-8E3812196B7B}"/>
                    </a:ext>
                  </a:extLst>
                </p:cNvPr>
                <p:cNvSpPr txBox="1"/>
                <p:nvPr/>
              </p:nvSpPr>
              <p:spPr>
                <a:xfrm>
                  <a:off x="8504044" y="6375193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$3,000,000</a:t>
                  </a: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5CFC10E-538E-C4CC-DF20-61A731476800}"/>
                  </a:ext>
                </a:extLst>
              </p:cNvPr>
              <p:cNvSpPr txBox="1"/>
              <p:nvPr/>
            </p:nvSpPr>
            <p:spPr>
              <a:xfrm>
                <a:off x="5700820" y="6539254"/>
                <a:ext cx="1325083" cy="243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Pre-Storm Value ($)</a:t>
                </a:r>
              </a:p>
            </p:txBody>
          </p:sp>
        </p:grpSp>
        <p:grpSp>
          <p:nvGrpSpPr>
            <p:cNvPr id="51" name="Graphic 21">
              <a:extLst>
                <a:ext uri="{FF2B5EF4-FFF2-40B4-BE49-F238E27FC236}">
                  <a16:creationId xmlns:a16="http://schemas.microsoft.com/office/drawing/2014/main" id="{8EBEF0AF-3A11-FACB-F362-281672836E36}"/>
                </a:ext>
              </a:extLst>
            </p:cNvPr>
            <p:cNvGrpSpPr/>
            <p:nvPr/>
          </p:nvGrpSpPr>
          <p:grpSpPr>
            <a:xfrm>
              <a:off x="1961414" y="856728"/>
              <a:ext cx="1059114" cy="5593811"/>
              <a:chOff x="1961414" y="856728"/>
              <a:chExt cx="1059114" cy="5593811"/>
            </a:xfrm>
            <a:solidFill>
              <a:srgbClr val="000000"/>
            </a:solidFill>
          </p:grpSpPr>
          <p:grpSp>
            <p:nvGrpSpPr>
              <p:cNvPr id="52" name="Graphic 21">
                <a:extLst>
                  <a:ext uri="{FF2B5EF4-FFF2-40B4-BE49-F238E27FC236}">
                    <a16:creationId xmlns:a16="http://schemas.microsoft.com/office/drawing/2014/main" id="{4C801C53-ABBD-233D-5749-40AA807A4CB8}"/>
                  </a:ext>
                </a:extLst>
              </p:cNvPr>
              <p:cNvGrpSpPr/>
              <p:nvPr/>
            </p:nvGrpSpPr>
            <p:grpSpPr>
              <a:xfrm>
                <a:off x="2800875" y="6298202"/>
                <a:ext cx="219652" cy="152337"/>
                <a:chOff x="2800875" y="6298202"/>
                <a:chExt cx="219652" cy="152337"/>
              </a:xfrm>
              <a:solidFill>
                <a:srgbClr val="000000"/>
              </a:solidFill>
            </p:grpSpPr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9B6DE443-323C-6374-AAF9-29745E2E0A44}"/>
                    </a:ext>
                  </a:extLst>
                </p:cNvPr>
                <p:cNvSpPr/>
                <p:nvPr/>
              </p:nvSpPr>
              <p:spPr>
                <a:xfrm>
                  <a:off x="2982746" y="6378474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534 h 11363"/>
                    <a:gd name="connsiteX1" fmla="*/ 90 w 37782"/>
                    <a:gd name="connsiteY1" fmla="*/ 534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534"/>
                      </a:moveTo>
                      <a:lnTo>
                        <a:pt x="90" y="534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B3B5233-2C2F-414A-94EC-ED3D1182B944}"/>
                    </a:ext>
                  </a:extLst>
                </p:cNvPr>
                <p:cNvSpPr txBox="1"/>
                <p:nvPr/>
              </p:nvSpPr>
              <p:spPr>
                <a:xfrm>
                  <a:off x="2709435" y="6252482"/>
                  <a:ext cx="326967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$0</a:t>
                  </a:r>
                </a:p>
              </p:txBody>
            </p:sp>
          </p:grpSp>
          <p:grpSp>
            <p:nvGrpSpPr>
              <p:cNvPr id="55" name="Graphic 21">
                <a:extLst>
                  <a:ext uri="{FF2B5EF4-FFF2-40B4-BE49-F238E27FC236}">
                    <a16:creationId xmlns:a16="http://schemas.microsoft.com/office/drawing/2014/main" id="{CDBE719D-897F-CBCC-67C9-15D5C272BF76}"/>
                  </a:ext>
                </a:extLst>
              </p:cNvPr>
              <p:cNvGrpSpPr/>
              <p:nvPr/>
            </p:nvGrpSpPr>
            <p:grpSpPr>
              <a:xfrm>
                <a:off x="2404665" y="5618014"/>
                <a:ext cx="615863" cy="152337"/>
                <a:chOff x="2404665" y="5618014"/>
                <a:chExt cx="615863" cy="152337"/>
              </a:xfrm>
              <a:solidFill>
                <a:srgbClr val="000000"/>
              </a:solidFill>
            </p:grpSpPr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394FA05B-C22F-3710-3BEF-2DE46D7CA275}"/>
                    </a:ext>
                  </a:extLst>
                </p:cNvPr>
                <p:cNvSpPr/>
                <p:nvPr/>
              </p:nvSpPr>
              <p:spPr>
                <a:xfrm>
                  <a:off x="2982746" y="5698287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474 h 11363"/>
                    <a:gd name="connsiteX1" fmla="*/ 90 w 37782"/>
                    <a:gd name="connsiteY1" fmla="*/ 474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474"/>
                      </a:moveTo>
                      <a:lnTo>
                        <a:pt x="90" y="474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ED3CBF1-04E8-EF44-D1B7-2F91570EB018}"/>
                    </a:ext>
                  </a:extLst>
                </p:cNvPr>
                <p:cNvSpPr txBox="1"/>
                <p:nvPr/>
              </p:nvSpPr>
              <p:spPr>
                <a:xfrm>
                  <a:off x="2313225" y="5572294"/>
                  <a:ext cx="723178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$200,000</a:t>
                  </a:r>
                </a:p>
              </p:txBody>
            </p:sp>
          </p:grpSp>
          <p:grpSp>
            <p:nvGrpSpPr>
              <p:cNvPr id="58" name="Graphic 21">
                <a:extLst>
                  <a:ext uri="{FF2B5EF4-FFF2-40B4-BE49-F238E27FC236}">
                    <a16:creationId xmlns:a16="http://schemas.microsoft.com/office/drawing/2014/main" id="{37F7B16E-7E9F-4E8E-01A8-B19C73964AE8}"/>
                  </a:ext>
                </a:extLst>
              </p:cNvPr>
              <p:cNvGrpSpPr/>
              <p:nvPr/>
            </p:nvGrpSpPr>
            <p:grpSpPr>
              <a:xfrm>
                <a:off x="2404665" y="4937838"/>
                <a:ext cx="615863" cy="152337"/>
                <a:chOff x="2404665" y="4937838"/>
                <a:chExt cx="615863" cy="152337"/>
              </a:xfrm>
              <a:solidFill>
                <a:srgbClr val="000000"/>
              </a:solidFill>
            </p:grpSpPr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1E65DCEE-3892-8738-B5DF-CD4945D1D0D6}"/>
                    </a:ext>
                  </a:extLst>
                </p:cNvPr>
                <p:cNvSpPr/>
                <p:nvPr/>
              </p:nvSpPr>
              <p:spPr>
                <a:xfrm>
                  <a:off x="2982746" y="5018100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414 h 11363"/>
                    <a:gd name="connsiteX1" fmla="*/ 90 w 37782"/>
                    <a:gd name="connsiteY1" fmla="*/ 414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414"/>
                      </a:moveTo>
                      <a:lnTo>
                        <a:pt x="90" y="414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B9AE88E-95CA-F0EB-8645-530935BEF901}"/>
                    </a:ext>
                  </a:extLst>
                </p:cNvPr>
                <p:cNvSpPr txBox="1"/>
                <p:nvPr/>
              </p:nvSpPr>
              <p:spPr>
                <a:xfrm>
                  <a:off x="2313225" y="4892118"/>
                  <a:ext cx="723178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$400,000</a:t>
                  </a:r>
                </a:p>
              </p:txBody>
            </p:sp>
          </p:grpSp>
          <p:grpSp>
            <p:nvGrpSpPr>
              <p:cNvPr id="61" name="Graphic 21">
                <a:extLst>
                  <a:ext uri="{FF2B5EF4-FFF2-40B4-BE49-F238E27FC236}">
                    <a16:creationId xmlns:a16="http://schemas.microsoft.com/office/drawing/2014/main" id="{74A86BBD-F6C9-CF80-1C7F-29A7ADCC9E82}"/>
                  </a:ext>
                </a:extLst>
              </p:cNvPr>
              <p:cNvGrpSpPr/>
              <p:nvPr/>
            </p:nvGrpSpPr>
            <p:grpSpPr>
              <a:xfrm>
                <a:off x="2404665" y="4257651"/>
                <a:ext cx="615863" cy="152337"/>
                <a:chOff x="2404665" y="4257651"/>
                <a:chExt cx="615863" cy="152337"/>
              </a:xfrm>
              <a:solidFill>
                <a:srgbClr val="000000"/>
              </a:solidFill>
            </p:grpSpPr>
            <p:sp>
              <p:nvSpPr>
                <p:cNvPr id="62" name="Freeform 61">
                  <a:extLst>
                    <a:ext uri="{FF2B5EF4-FFF2-40B4-BE49-F238E27FC236}">
                      <a16:creationId xmlns:a16="http://schemas.microsoft.com/office/drawing/2014/main" id="{C876E5C6-0D81-5135-8103-C0D6C7376BE5}"/>
                    </a:ext>
                  </a:extLst>
                </p:cNvPr>
                <p:cNvSpPr/>
                <p:nvPr/>
              </p:nvSpPr>
              <p:spPr>
                <a:xfrm>
                  <a:off x="2982746" y="4337924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354 h 11363"/>
                    <a:gd name="connsiteX1" fmla="*/ 90 w 37782"/>
                    <a:gd name="connsiteY1" fmla="*/ 354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354"/>
                      </a:moveTo>
                      <a:lnTo>
                        <a:pt x="90" y="354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1974861-D77A-5811-C971-646CBC713B42}"/>
                    </a:ext>
                  </a:extLst>
                </p:cNvPr>
                <p:cNvSpPr txBox="1"/>
                <p:nvPr/>
              </p:nvSpPr>
              <p:spPr>
                <a:xfrm>
                  <a:off x="2313225" y="4211931"/>
                  <a:ext cx="723178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$600,000</a:t>
                  </a:r>
                </a:p>
              </p:txBody>
            </p:sp>
          </p:grpSp>
          <p:grpSp>
            <p:nvGrpSpPr>
              <p:cNvPr id="64" name="Graphic 21">
                <a:extLst>
                  <a:ext uri="{FF2B5EF4-FFF2-40B4-BE49-F238E27FC236}">
                    <a16:creationId xmlns:a16="http://schemas.microsoft.com/office/drawing/2014/main" id="{26568536-930B-93F9-33BA-836EACAC302C}"/>
                  </a:ext>
                </a:extLst>
              </p:cNvPr>
              <p:cNvGrpSpPr/>
              <p:nvPr/>
            </p:nvGrpSpPr>
            <p:grpSpPr>
              <a:xfrm>
                <a:off x="2404665" y="3577464"/>
                <a:ext cx="615863" cy="152337"/>
                <a:chOff x="2404665" y="3577464"/>
                <a:chExt cx="615863" cy="152337"/>
              </a:xfrm>
              <a:solidFill>
                <a:srgbClr val="000000"/>
              </a:solidFill>
            </p:grpSpPr>
            <p:sp>
              <p:nvSpPr>
                <p:cNvPr id="65" name="Freeform 64">
                  <a:extLst>
                    <a:ext uri="{FF2B5EF4-FFF2-40B4-BE49-F238E27FC236}">
                      <a16:creationId xmlns:a16="http://schemas.microsoft.com/office/drawing/2014/main" id="{BF7AD237-1A0B-B2FD-5290-1F56E2CF1972}"/>
                    </a:ext>
                  </a:extLst>
                </p:cNvPr>
                <p:cNvSpPr/>
                <p:nvPr/>
              </p:nvSpPr>
              <p:spPr>
                <a:xfrm>
                  <a:off x="2982746" y="3657737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294 h 11363"/>
                    <a:gd name="connsiteX1" fmla="*/ 90 w 37782"/>
                    <a:gd name="connsiteY1" fmla="*/ 294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294"/>
                      </a:moveTo>
                      <a:lnTo>
                        <a:pt x="90" y="294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128AFA0-628A-429F-0490-00C416A82FDD}"/>
                    </a:ext>
                  </a:extLst>
                </p:cNvPr>
                <p:cNvSpPr txBox="1"/>
                <p:nvPr/>
              </p:nvSpPr>
              <p:spPr>
                <a:xfrm>
                  <a:off x="2313225" y="3531744"/>
                  <a:ext cx="723178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$800,000</a:t>
                  </a:r>
                </a:p>
              </p:txBody>
            </p:sp>
          </p:grpSp>
          <p:grpSp>
            <p:nvGrpSpPr>
              <p:cNvPr id="67" name="Graphic 21">
                <a:extLst>
                  <a:ext uri="{FF2B5EF4-FFF2-40B4-BE49-F238E27FC236}">
                    <a16:creationId xmlns:a16="http://schemas.microsoft.com/office/drawing/2014/main" id="{9332D67F-6732-EBF3-13B4-462BAA4CFF11}"/>
                  </a:ext>
                </a:extLst>
              </p:cNvPr>
              <p:cNvGrpSpPr/>
              <p:nvPr/>
            </p:nvGrpSpPr>
            <p:grpSpPr>
              <a:xfrm>
                <a:off x="2296631" y="2897277"/>
                <a:ext cx="723897" cy="152337"/>
                <a:chOff x="2296631" y="2897277"/>
                <a:chExt cx="723897" cy="152337"/>
              </a:xfrm>
              <a:solidFill>
                <a:srgbClr val="000000"/>
              </a:solidFill>
            </p:grpSpPr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6CEC44B2-6623-80E1-0135-8A51E272C9F0}"/>
                    </a:ext>
                  </a:extLst>
                </p:cNvPr>
                <p:cNvSpPr/>
                <p:nvPr/>
              </p:nvSpPr>
              <p:spPr>
                <a:xfrm>
                  <a:off x="2982746" y="2977549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235 h 11363"/>
                    <a:gd name="connsiteX1" fmla="*/ 90 w 37782"/>
                    <a:gd name="connsiteY1" fmla="*/ 235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235"/>
                      </a:moveTo>
                      <a:lnTo>
                        <a:pt x="90" y="23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CABD3077-D4F3-BBE9-455E-E25D8BC60C67}"/>
                    </a:ext>
                  </a:extLst>
                </p:cNvPr>
                <p:cNvSpPr txBox="1"/>
                <p:nvPr/>
              </p:nvSpPr>
              <p:spPr>
                <a:xfrm>
                  <a:off x="2205191" y="2851557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$1,000,000</a:t>
                  </a:r>
                </a:p>
              </p:txBody>
            </p:sp>
          </p:grpSp>
          <p:grpSp>
            <p:nvGrpSpPr>
              <p:cNvPr id="70" name="Graphic 21">
                <a:extLst>
                  <a:ext uri="{FF2B5EF4-FFF2-40B4-BE49-F238E27FC236}">
                    <a16:creationId xmlns:a16="http://schemas.microsoft.com/office/drawing/2014/main" id="{731536D0-A35C-88D1-6BF5-70ADF9A16549}"/>
                  </a:ext>
                </a:extLst>
              </p:cNvPr>
              <p:cNvGrpSpPr/>
              <p:nvPr/>
            </p:nvGrpSpPr>
            <p:grpSpPr>
              <a:xfrm>
                <a:off x="2296631" y="2217101"/>
                <a:ext cx="723897" cy="152337"/>
                <a:chOff x="2296631" y="2217101"/>
                <a:chExt cx="723897" cy="152337"/>
              </a:xfrm>
              <a:solidFill>
                <a:srgbClr val="000000"/>
              </a:solidFill>
            </p:grpSpPr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5584C50D-3922-D681-BD77-6942DBA80097}"/>
                    </a:ext>
                  </a:extLst>
                </p:cNvPr>
                <p:cNvSpPr/>
                <p:nvPr/>
              </p:nvSpPr>
              <p:spPr>
                <a:xfrm>
                  <a:off x="2982746" y="2297362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175 h 11363"/>
                    <a:gd name="connsiteX1" fmla="*/ 90 w 37782"/>
                    <a:gd name="connsiteY1" fmla="*/ 175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175"/>
                      </a:moveTo>
                      <a:lnTo>
                        <a:pt x="90" y="17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69D95E0-4FA0-0D96-86AE-5468A8110EEE}"/>
                    </a:ext>
                  </a:extLst>
                </p:cNvPr>
                <p:cNvSpPr txBox="1"/>
                <p:nvPr/>
              </p:nvSpPr>
              <p:spPr>
                <a:xfrm>
                  <a:off x="2205191" y="2171381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$1,200,000</a:t>
                  </a:r>
                </a:p>
              </p:txBody>
            </p:sp>
          </p:grpSp>
          <p:grpSp>
            <p:nvGrpSpPr>
              <p:cNvPr id="73" name="Graphic 21">
                <a:extLst>
                  <a:ext uri="{FF2B5EF4-FFF2-40B4-BE49-F238E27FC236}">
                    <a16:creationId xmlns:a16="http://schemas.microsoft.com/office/drawing/2014/main" id="{7168935C-8F6A-476B-9868-B00A0DBABA19}"/>
                  </a:ext>
                </a:extLst>
              </p:cNvPr>
              <p:cNvGrpSpPr/>
              <p:nvPr/>
            </p:nvGrpSpPr>
            <p:grpSpPr>
              <a:xfrm>
                <a:off x="2296631" y="1536913"/>
                <a:ext cx="723897" cy="152337"/>
                <a:chOff x="2296631" y="1536913"/>
                <a:chExt cx="723897" cy="152337"/>
              </a:xfrm>
              <a:solidFill>
                <a:srgbClr val="000000"/>
              </a:solidFill>
            </p:grpSpPr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2F1B038F-EE71-C398-A116-0662EC3C7282}"/>
                    </a:ext>
                  </a:extLst>
                </p:cNvPr>
                <p:cNvSpPr/>
                <p:nvPr/>
              </p:nvSpPr>
              <p:spPr>
                <a:xfrm>
                  <a:off x="2982746" y="1617186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115 h 11363"/>
                    <a:gd name="connsiteX1" fmla="*/ 90 w 37782"/>
                    <a:gd name="connsiteY1" fmla="*/ 115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115"/>
                      </a:moveTo>
                      <a:lnTo>
                        <a:pt x="90" y="11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A96037C-6173-2A28-4747-02AD2F363E89}"/>
                    </a:ext>
                  </a:extLst>
                </p:cNvPr>
                <p:cNvSpPr txBox="1"/>
                <p:nvPr/>
              </p:nvSpPr>
              <p:spPr>
                <a:xfrm>
                  <a:off x="2205191" y="1491193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$1,400,000</a:t>
                  </a:r>
                </a:p>
              </p:txBody>
            </p:sp>
          </p:grpSp>
          <p:grpSp>
            <p:nvGrpSpPr>
              <p:cNvPr id="76" name="Graphic 21">
                <a:extLst>
                  <a:ext uri="{FF2B5EF4-FFF2-40B4-BE49-F238E27FC236}">
                    <a16:creationId xmlns:a16="http://schemas.microsoft.com/office/drawing/2014/main" id="{E630509C-778A-56BA-2BB0-7EF42F7DBD75}"/>
                  </a:ext>
                </a:extLst>
              </p:cNvPr>
              <p:cNvGrpSpPr/>
              <p:nvPr/>
            </p:nvGrpSpPr>
            <p:grpSpPr>
              <a:xfrm>
                <a:off x="2296631" y="856728"/>
                <a:ext cx="723897" cy="152337"/>
                <a:chOff x="2296631" y="856728"/>
                <a:chExt cx="723897" cy="152337"/>
              </a:xfrm>
              <a:solidFill>
                <a:srgbClr val="000000"/>
              </a:solidFill>
            </p:grpSpPr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55D414C4-D7FD-0864-F24E-5F868C75E8D2}"/>
                    </a:ext>
                  </a:extLst>
                </p:cNvPr>
                <p:cNvSpPr/>
                <p:nvPr/>
              </p:nvSpPr>
              <p:spPr>
                <a:xfrm>
                  <a:off x="2982746" y="936999"/>
                  <a:ext cx="37782" cy="11363"/>
                </a:xfrm>
                <a:custGeom>
                  <a:avLst/>
                  <a:gdLst>
                    <a:gd name="connsiteX0" fmla="*/ 37872 w 37782"/>
                    <a:gd name="connsiteY0" fmla="*/ 55 h 11363"/>
                    <a:gd name="connsiteX1" fmla="*/ 90 w 37782"/>
                    <a:gd name="connsiteY1" fmla="*/ 55 h 11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782" h="11363">
                      <a:moveTo>
                        <a:pt x="37872" y="55"/>
                      </a:moveTo>
                      <a:lnTo>
                        <a:pt x="90" y="55"/>
                      </a:lnTo>
                    </a:path>
                  </a:pathLst>
                </a:custGeom>
                <a:solidFill>
                  <a:srgbClr val="000000"/>
                </a:solidFill>
                <a:ln w="8636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EC9A3D1-A429-ABAA-9648-DFD6B29BF742}"/>
                    </a:ext>
                  </a:extLst>
                </p:cNvPr>
                <p:cNvSpPr txBox="1"/>
                <p:nvPr/>
              </p:nvSpPr>
              <p:spPr>
                <a:xfrm>
                  <a:off x="2205191" y="811008"/>
                  <a:ext cx="831212" cy="243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$1,600,000</a:t>
                  </a:r>
                </a:p>
              </p:txBody>
            </p: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6D802AA-4B49-E783-DE4C-31A97C681231}"/>
                  </a:ext>
                </a:extLst>
              </p:cNvPr>
              <p:cNvSpPr txBox="1"/>
              <p:nvPr/>
            </p:nvSpPr>
            <p:spPr>
              <a:xfrm rot="16200000">
                <a:off x="1282714" y="3535848"/>
                <a:ext cx="1601178" cy="243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Damage Assessment ($)</a:t>
                </a:r>
              </a:p>
            </p:txBody>
          </p:sp>
        </p:grp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514E290-732F-530B-B215-A3766782B034}"/>
                </a:ext>
              </a:extLst>
            </p:cNvPr>
            <p:cNvSpPr/>
            <p:nvPr/>
          </p:nvSpPr>
          <p:spPr>
            <a:xfrm>
              <a:off x="3020530" y="301457"/>
              <a:ext cx="3513651" cy="6077016"/>
            </a:xfrm>
            <a:custGeom>
              <a:avLst/>
              <a:gdLst>
                <a:gd name="connsiteX0" fmla="*/ 0 w 3513651"/>
                <a:gd name="connsiteY0" fmla="*/ 6077017 h 6077016"/>
                <a:gd name="connsiteX1" fmla="*/ 3513652 w 3513651"/>
                <a:gd name="connsiteY1" fmla="*/ 0 h 607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13651" h="6077016">
                  <a:moveTo>
                    <a:pt x="0" y="6077017"/>
                  </a:moveTo>
                  <a:lnTo>
                    <a:pt x="3513652" y="0"/>
                  </a:lnTo>
                </a:path>
              </a:pathLst>
            </a:custGeom>
            <a:noFill/>
            <a:ln w="10795" cap="flat">
              <a:solidFill>
                <a:srgbClr val="000000"/>
              </a:solidFill>
              <a:custDash>
                <a:ds d="277500" sp="120000"/>
              </a:custDash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1AA60F1-02C9-21FF-32C1-FF178269AC44}"/>
                </a:ext>
              </a:extLst>
            </p:cNvPr>
            <p:cNvSpPr/>
            <p:nvPr/>
          </p:nvSpPr>
          <p:spPr>
            <a:xfrm>
              <a:off x="3020528" y="923565"/>
              <a:ext cx="10795" cy="5454908"/>
            </a:xfrm>
            <a:custGeom>
              <a:avLst/>
              <a:gdLst>
                <a:gd name="connsiteX0" fmla="*/ 0 w 10795"/>
                <a:gd name="connsiteY0" fmla="*/ 5454909 h 5454908"/>
                <a:gd name="connsiteX1" fmla="*/ 0 w 10795"/>
                <a:gd name="connsiteY1" fmla="*/ 0 h 5454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95" h="5454908">
                  <a:moveTo>
                    <a:pt x="0" y="5454909"/>
                  </a:moveTo>
                  <a:lnTo>
                    <a:pt x="0" y="0"/>
                  </a:lnTo>
                </a:path>
              </a:pathLst>
            </a:custGeom>
            <a:noFill/>
            <a:ln w="8636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FF5B2F7-7172-E92A-5E6C-62A6D113B7A8}"/>
                </a:ext>
              </a:extLst>
            </p:cNvPr>
            <p:cNvSpPr/>
            <p:nvPr/>
          </p:nvSpPr>
          <p:spPr>
            <a:xfrm>
              <a:off x="9706196" y="923565"/>
              <a:ext cx="10795" cy="5454908"/>
            </a:xfrm>
            <a:custGeom>
              <a:avLst/>
              <a:gdLst>
                <a:gd name="connsiteX0" fmla="*/ 0 w 10795"/>
                <a:gd name="connsiteY0" fmla="*/ 5454909 h 5454908"/>
                <a:gd name="connsiteX1" fmla="*/ 0 w 10795"/>
                <a:gd name="connsiteY1" fmla="*/ 0 h 5454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95" h="5454908">
                  <a:moveTo>
                    <a:pt x="0" y="5454909"/>
                  </a:moveTo>
                  <a:lnTo>
                    <a:pt x="0" y="0"/>
                  </a:lnTo>
                </a:path>
              </a:pathLst>
            </a:custGeom>
            <a:noFill/>
            <a:ln w="8636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160E5D9D-FA23-16C3-3170-07EEAA7455A2}"/>
                </a:ext>
              </a:extLst>
            </p:cNvPr>
            <p:cNvSpPr/>
            <p:nvPr/>
          </p:nvSpPr>
          <p:spPr>
            <a:xfrm>
              <a:off x="3020528" y="6378474"/>
              <a:ext cx="6685667" cy="11363"/>
            </a:xfrm>
            <a:custGeom>
              <a:avLst/>
              <a:gdLst>
                <a:gd name="connsiteX0" fmla="*/ 0 w 6685667"/>
                <a:gd name="connsiteY0" fmla="*/ 0 h 11363"/>
                <a:gd name="connsiteX1" fmla="*/ 6685668 w 6685667"/>
                <a:gd name="connsiteY1" fmla="*/ 0 h 1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85667" h="11363">
                  <a:moveTo>
                    <a:pt x="0" y="0"/>
                  </a:moveTo>
                  <a:lnTo>
                    <a:pt x="6685668" y="0"/>
                  </a:lnTo>
                </a:path>
              </a:pathLst>
            </a:custGeom>
            <a:noFill/>
            <a:ln w="8636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F475BC1F-3198-C88D-09A2-41ADABC0282A}"/>
                </a:ext>
              </a:extLst>
            </p:cNvPr>
            <p:cNvSpPr/>
            <p:nvPr/>
          </p:nvSpPr>
          <p:spPr>
            <a:xfrm>
              <a:off x="3020528" y="923565"/>
              <a:ext cx="6685667" cy="11363"/>
            </a:xfrm>
            <a:custGeom>
              <a:avLst/>
              <a:gdLst>
                <a:gd name="connsiteX0" fmla="*/ 0 w 6685667"/>
                <a:gd name="connsiteY0" fmla="*/ 0 h 11363"/>
                <a:gd name="connsiteX1" fmla="*/ 6685668 w 6685667"/>
                <a:gd name="connsiteY1" fmla="*/ 0 h 1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85667" h="11363">
                  <a:moveTo>
                    <a:pt x="0" y="0"/>
                  </a:moveTo>
                  <a:lnTo>
                    <a:pt x="6685668" y="0"/>
                  </a:lnTo>
                </a:path>
              </a:pathLst>
            </a:custGeom>
            <a:noFill/>
            <a:ln w="8636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A574C10E-F936-6A05-AE89-85CC005BDD1A}"/>
              </a:ext>
            </a:extLst>
          </p:cNvPr>
          <p:cNvSpPr/>
          <p:nvPr/>
        </p:nvSpPr>
        <p:spPr>
          <a:xfrm>
            <a:off x="3873957" y="96920"/>
            <a:ext cx="5910948" cy="810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5" name="Graphic 21">
            <a:extLst>
              <a:ext uri="{FF2B5EF4-FFF2-40B4-BE49-F238E27FC236}">
                <a16:creationId xmlns:a16="http://schemas.microsoft.com/office/drawing/2014/main" id="{D6E21B00-489E-F5F1-754D-2B28329E8193}"/>
              </a:ext>
            </a:extLst>
          </p:cNvPr>
          <p:cNvGrpSpPr/>
          <p:nvPr/>
        </p:nvGrpSpPr>
        <p:grpSpPr>
          <a:xfrm>
            <a:off x="4000457" y="144464"/>
            <a:ext cx="5275803" cy="408972"/>
            <a:chOff x="2653647" y="158587"/>
            <a:chExt cx="5275803" cy="408972"/>
          </a:xfrm>
          <a:solidFill>
            <a:srgbClr val="000000"/>
          </a:solidFill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6E78BC6-0D62-E209-1DE9-DFBE0E486434}"/>
                </a:ext>
              </a:extLst>
            </p:cNvPr>
            <p:cNvSpPr txBox="1"/>
            <p:nvPr/>
          </p:nvSpPr>
          <p:spPr>
            <a:xfrm>
              <a:off x="2656852" y="158587"/>
              <a:ext cx="52693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Damage Outpaced Property Value for </a:t>
              </a:r>
              <a:r>
                <a:rPr lang="en-US" sz="900" b="1" spc="0" baseline="0" dirty="0">
                  <a:ln/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Low-Income</a:t>
              </a:r>
              <a:r>
                <a:rPr lang="en-US" sz="9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 Residents Under the Road Home Program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698F4F5-B878-B77B-4DA1-472AC83FB965}"/>
                </a:ext>
              </a:extLst>
            </p:cNvPr>
            <p:cNvSpPr txBox="1"/>
            <p:nvPr/>
          </p:nvSpPr>
          <p:spPr>
            <a:xfrm>
              <a:off x="2653647" y="336727"/>
              <a:ext cx="527580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Leading to Less Aid Distribution for </a:t>
              </a:r>
              <a:r>
                <a:rPr lang="en-US" sz="900" b="1" spc="0" baseline="0" dirty="0">
                  <a:ln/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Low-Income</a:t>
              </a:r>
              <a:r>
                <a:rPr lang="en-US" sz="9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 Households vice </a:t>
              </a:r>
              <a:r>
                <a:rPr lang="en-US" sz="900" b="1" spc="0" baseline="0" dirty="0">
                  <a:ln/>
                  <a:solidFill>
                    <a:srgbClr val="FF0000"/>
                  </a:solidFill>
                  <a:latin typeface="Arial"/>
                  <a:cs typeface="Arial"/>
                  <a:sym typeface="Arial"/>
                  <a:rtl val="0"/>
                </a:rPr>
                <a:t>High-Income</a:t>
              </a:r>
              <a:r>
                <a:rPr lang="en-US" sz="9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 homeowners</a:t>
              </a:r>
            </a:p>
          </p:txBody>
        </p:sp>
      </p:grpSp>
      <p:grpSp>
        <p:nvGrpSpPr>
          <p:cNvPr id="88" name="Graphic 21">
            <a:extLst>
              <a:ext uri="{FF2B5EF4-FFF2-40B4-BE49-F238E27FC236}">
                <a16:creationId xmlns:a16="http://schemas.microsoft.com/office/drawing/2014/main" id="{0FC494B3-5562-9CF0-9C7D-10B987628322}"/>
              </a:ext>
            </a:extLst>
          </p:cNvPr>
          <p:cNvGrpSpPr/>
          <p:nvPr/>
        </p:nvGrpSpPr>
        <p:grpSpPr>
          <a:xfrm>
            <a:off x="3674600" y="585077"/>
            <a:ext cx="6227977" cy="279579"/>
            <a:chOff x="3003277" y="585751"/>
            <a:chExt cx="6227977" cy="279579"/>
          </a:xfrm>
          <a:solidFill>
            <a:srgbClr val="000000"/>
          </a:solidFill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EE1320C-105F-A162-F53A-48490A72F3BF}"/>
                </a:ext>
              </a:extLst>
            </p:cNvPr>
            <p:cNvSpPr txBox="1"/>
            <p:nvPr/>
          </p:nvSpPr>
          <p:spPr>
            <a:xfrm>
              <a:off x="3200895" y="540031"/>
              <a:ext cx="5792126" cy="243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Because Road Home grants were based on pre-storm property values rather than actual damage,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343538A-C66E-EA9C-55EB-6C55E966A592}"/>
                </a:ext>
              </a:extLst>
            </p:cNvPr>
            <p:cNvSpPr txBox="1"/>
            <p:nvPr/>
          </p:nvSpPr>
          <p:spPr>
            <a:xfrm>
              <a:off x="2911837" y="667274"/>
              <a:ext cx="6410857" cy="243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low-income homeowners—whose homes were worth less before the storm—received less funding to rebuild.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2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ntent Placeholder 4">
            <a:extLst>
              <a:ext uri="{FF2B5EF4-FFF2-40B4-BE49-F238E27FC236}">
                <a16:creationId xmlns:a16="http://schemas.microsoft.com/office/drawing/2014/main" id="{700C38FB-4A35-3A70-0C49-0CD3E4DE9683}"/>
              </a:ext>
            </a:extLst>
          </p:cNvPr>
          <p:cNvGrpSpPr/>
          <p:nvPr/>
        </p:nvGrpSpPr>
        <p:grpSpPr>
          <a:xfrm>
            <a:off x="1878925" y="449012"/>
            <a:ext cx="8235951" cy="6408988"/>
            <a:chOff x="1809652" y="-38062"/>
            <a:chExt cx="8235951" cy="6408988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07CF9FA-52C1-6131-DC9A-4756394CBD4F}"/>
                </a:ext>
              </a:extLst>
            </p:cNvPr>
            <p:cNvSpPr/>
            <p:nvPr/>
          </p:nvSpPr>
          <p:spPr>
            <a:xfrm>
              <a:off x="1809652" y="193963"/>
              <a:ext cx="8235951" cy="6176963"/>
            </a:xfrm>
            <a:custGeom>
              <a:avLst/>
              <a:gdLst>
                <a:gd name="connsiteX0" fmla="*/ 0 w 8235951"/>
                <a:gd name="connsiteY0" fmla="*/ 6176963 h 6176963"/>
                <a:gd name="connsiteX1" fmla="*/ 8235951 w 8235951"/>
                <a:gd name="connsiteY1" fmla="*/ 6176963 h 6176963"/>
                <a:gd name="connsiteX2" fmla="*/ 8235951 w 8235951"/>
                <a:gd name="connsiteY2" fmla="*/ 0 h 6176963"/>
                <a:gd name="connsiteX3" fmla="*/ 0 w 8235951"/>
                <a:gd name="connsiteY3" fmla="*/ 0 h 6176963"/>
                <a:gd name="connsiteX4" fmla="*/ 0 w 8235951"/>
                <a:gd name="connsiteY4" fmla="*/ 6176963 h 617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35951" h="6176963">
                  <a:moveTo>
                    <a:pt x="0" y="6176963"/>
                  </a:moveTo>
                  <a:lnTo>
                    <a:pt x="8235951" y="6176963"/>
                  </a:lnTo>
                  <a:lnTo>
                    <a:pt x="8235951" y="0"/>
                  </a:lnTo>
                  <a:lnTo>
                    <a:pt x="0" y="0"/>
                  </a:lnTo>
                  <a:lnTo>
                    <a:pt x="0" y="6176963"/>
                  </a:lnTo>
                  <a:close/>
                </a:path>
              </a:pathLst>
            </a:custGeom>
            <a:noFill/>
            <a:ln w="14288" cap="flat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Content Placeholder 4">
              <a:extLst>
                <a:ext uri="{FF2B5EF4-FFF2-40B4-BE49-F238E27FC236}">
                  <a16:creationId xmlns:a16="http://schemas.microsoft.com/office/drawing/2014/main" id="{C8A661C3-EF9F-283F-3934-0E6170FA5636}"/>
                </a:ext>
              </a:extLst>
            </p:cNvPr>
            <p:cNvGrpSpPr/>
            <p:nvPr/>
          </p:nvGrpSpPr>
          <p:grpSpPr>
            <a:xfrm>
              <a:off x="1809652" y="-38062"/>
              <a:ext cx="7426654" cy="5985412"/>
              <a:chOff x="1809652" y="-38062"/>
              <a:chExt cx="7426654" cy="5985412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086997C-F471-3797-724D-1B5A24D4EF5D}"/>
                  </a:ext>
                </a:extLst>
              </p:cNvPr>
              <p:cNvSpPr/>
              <p:nvPr/>
            </p:nvSpPr>
            <p:spPr>
              <a:xfrm>
                <a:off x="2839145" y="935198"/>
                <a:ext cx="6382862" cy="4756261"/>
              </a:xfrm>
              <a:custGeom>
                <a:avLst/>
                <a:gdLst>
                  <a:gd name="connsiteX0" fmla="*/ 0 w 6382862"/>
                  <a:gd name="connsiteY0" fmla="*/ 4756262 h 4756261"/>
                  <a:gd name="connsiteX1" fmla="*/ 6382863 w 6382862"/>
                  <a:gd name="connsiteY1" fmla="*/ 4756262 h 4756261"/>
                  <a:gd name="connsiteX2" fmla="*/ 6382863 w 6382862"/>
                  <a:gd name="connsiteY2" fmla="*/ 0 h 4756261"/>
                  <a:gd name="connsiteX3" fmla="*/ 0 w 6382862"/>
                  <a:gd name="connsiteY3" fmla="*/ 0 h 4756261"/>
                  <a:gd name="connsiteX4" fmla="*/ 0 w 6382862"/>
                  <a:gd name="connsiteY4" fmla="*/ 4756262 h 475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2862" h="4756261">
                    <a:moveTo>
                      <a:pt x="0" y="4756262"/>
                    </a:moveTo>
                    <a:lnTo>
                      <a:pt x="6382863" y="4756262"/>
                    </a:lnTo>
                    <a:lnTo>
                      <a:pt x="6382863" y="0"/>
                    </a:lnTo>
                    <a:lnTo>
                      <a:pt x="0" y="0"/>
                    </a:lnTo>
                    <a:lnTo>
                      <a:pt x="0" y="4756262"/>
                    </a:lnTo>
                    <a:close/>
                  </a:path>
                </a:pathLst>
              </a:custGeom>
              <a:noFill/>
              <a:ln w="14288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B6B34D6-6A44-01ED-8A2D-93782E1B0989}"/>
                  </a:ext>
                </a:extLst>
              </p:cNvPr>
              <p:cNvSpPr/>
              <p:nvPr/>
            </p:nvSpPr>
            <p:spPr>
              <a:xfrm>
                <a:off x="3158288" y="1768802"/>
                <a:ext cx="2553144" cy="3922657"/>
              </a:xfrm>
              <a:custGeom>
                <a:avLst/>
                <a:gdLst>
                  <a:gd name="connsiteX0" fmla="*/ 0 w 2553144"/>
                  <a:gd name="connsiteY0" fmla="*/ 3922658 h 3922657"/>
                  <a:gd name="connsiteX1" fmla="*/ 2553145 w 2553144"/>
                  <a:gd name="connsiteY1" fmla="*/ 3922658 h 3922657"/>
                  <a:gd name="connsiteX2" fmla="*/ 2553145 w 2553144"/>
                  <a:gd name="connsiteY2" fmla="*/ 0 h 3922657"/>
                  <a:gd name="connsiteX3" fmla="*/ 0 w 2553144"/>
                  <a:gd name="connsiteY3" fmla="*/ 0 h 3922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53144" h="3922657">
                    <a:moveTo>
                      <a:pt x="0" y="3922658"/>
                    </a:moveTo>
                    <a:lnTo>
                      <a:pt x="2553145" y="3922658"/>
                    </a:lnTo>
                    <a:lnTo>
                      <a:pt x="25531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74A1"/>
              </a:solidFill>
              <a:ln w="14288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A0ED623B-0166-C0E1-8C3F-15CD25972D6A}"/>
                  </a:ext>
                </a:extLst>
              </p:cNvPr>
              <p:cNvSpPr/>
              <p:nvPr/>
            </p:nvSpPr>
            <p:spPr>
              <a:xfrm>
                <a:off x="6349719" y="3886599"/>
                <a:ext cx="2553144" cy="1804860"/>
              </a:xfrm>
              <a:custGeom>
                <a:avLst/>
                <a:gdLst>
                  <a:gd name="connsiteX0" fmla="*/ 0 w 2553144"/>
                  <a:gd name="connsiteY0" fmla="*/ 1804860 h 1804860"/>
                  <a:gd name="connsiteX1" fmla="*/ 2553145 w 2553144"/>
                  <a:gd name="connsiteY1" fmla="*/ 1804860 h 1804860"/>
                  <a:gd name="connsiteX2" fmla="*/ 2553145 w 2553144"/>
                  <a:gd name="connsiteY2" fmla="*/ 0 h 1804860"/>
                  <a:gd name="connsiteX3" fmla="*/ 0 w 2553144"/>
                  <a:gd name="connsiteY3" fmla="*/ 0 h 1804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53144" h="1804860">
                    <a:moveTo>
                      <a:pt x="0" y="1804860"/>
                    </a:moveTo>
                    <a:lnTo>
                      <a:pt x="2553145" y="1804860"/>
                    </a:lnTo>
                    <a:lnTo>
                      <a:pt x="25531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74A1"/>
              </a:solidFill>
              <a:ln w="14288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" name="Content Placeholder 4">
                <a:extLst>
                  <a:ext uri="{FF2B5EF4-FFF2-40B4-BE49-F238E27FC236}">
                    <a16:creationId xmlns:a16="http://schemas.microsoft.com/office/drawing/2014/main" id="{06582606-CA92-8BF4-C6FF-CFF9CDDD9486}"/>
                  </a:ext>
                </a:extLst>
              </p:cNvPr>
              <p:cNvGrpSpPr/>
              <p:nvPr/>
            </p:nvGrpSpPr>
            <p:grpSpPr>
              <a:xfrm>
                <a:off x="3990668" y="5691460"/>
                <a:ext cx="4094243" cy="255890"/>
                <a:chOff x="3990668" y="5691460"/>
                <a:chExt cx="4094243" cy="255890"/>
              </a:xfrm>
              <a:solidFill>
                <a:srgbClr val="000000"/>
              </a:solidFill>
            </p:grpSpPr>
            <p:grpSp>
              <p:nvGrpSpPr>
                <p:cNvPr id="13" name="Content Placeholder 4">
                  <a:extLst>
                    <a:ext uri="{FF2B5EF4-FFF2-40B4-BE49-F238E27FC236}">
                      <a16:creationId xmlns:a16="http://schemas.microsoft.com/office/drawing/2014/main" id="{7A24B076-1E65-D981-1B7E-A5166B2B8EEE}"/>
                    </a:ext>
                  </a:extLst>
                </p:cNvPr>
                <p:cNvGrpSpPr/>
                <p:nvPr/>
              </p:nvGrpSpPr>
              <p:grpSpPr>
                <a:xfrm>
                  <a:off x="3990668" y="5691460"/>
                  <a:ext cx="888384" cy="255890"/>
                  <a:chOff x="3990668" y="5691460"/>
                  <a:chExt cx="888384" cy="255890"/>
                </a:xfrm>
                <a:solidFill>
                  <a:srgbClr val="000000"/>
                </a:solidFill>
              </p:grpSpPr>
              <p:sp>
                <p:nvSpPr>
                  <p:cNvPr id="14" name="Freeform 13">
                    <a:extLst>
                      <a:ext uri="{FF2B5EF4-FFF2-40B4-BE49-F238E27FC236}">
                        <a16:creationId xmlns:a16="http://schemas.microsoft.com/office/drawing/2014/main" id="{B9E1D0A2-DF2C-8CC4-C741-58B34B5BD40A}"/>
                      </a:ext>
                    </a:extLst>
                  </p:cNvPr>
                  <p:cNvSpPr/>
                  <p:nvPr/>
                </p:nvSpPr>
                <p:spPr>
                  <a:xfrm>
                    <a:off x="4434861" y="5691460"/>
                    <a:ext cx="14298" cy="50044"/>
                  </a:xfrm>
                  <a:custGeom>
                    <a:avLst/>
                    <a:gdLst>
                      <a:gd name="connsiteX0" fmla="*/ 184 w 14298"/>
                      <a:gd name="connsiteY0" fmla="*/ 384 h 50044"/>
                      <a:gd name="connsiteX1" fmla="*/ 184 w 14298"/>
                      <a:gd name="connsiteY1" fmla="*/ 50429 h 50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298" h="50044">
                        <a:moveTo>
                          <a:pt x="184" y="384"/>
                        </a:moveTo>
                        <a:lnTo>
                          <a:pt x="184" y="50429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CCC0DAC-C3CC-8435-04F0-7B280973A101}"/>
                      </a:ext>
                    </a:extLst>
                  </p:cNvPr>
                  <p:cNvSpPr txBox="1"/>
                  <p:nvPr/>
                </p:nvSpPr>
                <p:spPr>
                  <a:xfrm>
                    <a:off x="3990668" y="5699141"/>
                    <a:ext cx="888384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Low Income</a:t>
                    </a:r>
                  </a:p>
                </p:txBody>
              </p:sp>
            </p:grpSp>
            <p:grpSp>
              <p:nvGrpSpPr>
                <p:cNvPr id="16" name="Content Placeholder 4">
                  <a:extLst>
                    <a:ext uri="{FF2B5EF4-FFF2-40B4-BE49-F238E27FC236}">
                      <a16:creationId xmlns:a16="http://schemas.microsoft.com/office/drawing/2014/main" id="{069CE517-80EF-3C63-A789-FD2469BB9CDA}"/>
                    </a:ext>
                  </a:extLst>
                </p:cNvPr>
                <p:cNvGrpSpPr/>
                <p:nvPr/>
              </p:nvGrpSpPr>
              <p:grpSpPr>
                <a:xfrm>
                  <a:off x="7167672" y="5691460"/>
                  <a:ext cx="917239" cy="255890"/>
                  <a:chOff x="7167672" y="5691460"/>
                  <a:chExt cx="917239" cy="255890"/>
                </a:xfrm>
                <a:solidFill>
                  <a:srgbClr val="000000"/>
                </a:solidFill>
              </p:grpSpPr>
              <p:sp>
                <p:nvSpPr>
                  <p:cNvPr id="17" name="Freeform 16">
                    <a:extLst>
                      <a:ext uri="{FF2B5EF4-FFF2-40B4-BE49-F238E27FC236}">
                        <a16:creationId xmlns:a16="http://schemas.microsoft.com/office/drawing/2014/main" id="{3621ED2A-F446-B46B-6208-16C52DE68C45}"/>
                      </a:ext>
                    </a:extLst>
                  </p:cNvPr>
                  <p:cNvSpPr/>
                  <p:nvPr/>
                </p:nvSpPr>
                <p:spPr>
                  <a:xfrm>
                    <a:off x="7626292" y="5691460"/>
                    <a:ext cx="14298" cy="50044"/>
                  </a:xfrm>
                  <a:custGeom>
                    <a:avLst/>
                    <a:gdLst>
                      <a:gd name="connsiteX0" fmla="*/ 407 w 14298"/>
                      <a:gd name="connsiteY0" fmla="*/ 384 h 50044"/>
                      <a:gd name="connsiteX1" fmla="*/ 407 w 14298"/>
                      <a:gd name="connsiteY1" fmla="*/ 50429 h 50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298" h="50044">
                        <a:moveTo>
                          <a:pt x="407" y="384"/>
                        </a:moveTo>
                        <a:lnTo>
                          <a:pt x="407" y="50429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113C0C6-1AD4-FB7E-BE79-BDBC92C555DF}"/>
                      </a:ext>
                    </a:extLst>
                  </p:cNvPr>
                  <p:cNvSpPr txBox="1"/>
                  <p:nvPr/>
                </p:nvSpPr>
                <p:spPr>
                  <a:xfrm>
                    <a:off x="7167672" y="5699141"/>
                    <a:ext cx="917239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High Income</a:t>
                    </a:r>
                  </a:p>
                </p:txBody>
              </p:sp>
            </p:grpSp>
          </p:grpSp>
          <p:grpSp>
            <p:nvGrpSpPr>
              <p:cNvPr id="19" name="Content Placeholder 4">
                <a:extLst>
                  <a:ext uri="{FF2B5EF4-FFF2-40B4-BE49-F238E27FC236}">
                    <a16:creationId xmlns:a16="http://schemas.microsoft.com/office/drawing/2014/main" id="{D4316DC2-1F27-8C14-93DC-4EEDCC476ECA}"/>
                  </a:ext>
                </a:extLst>
              </p:cNvPr>
              <p:cNvGrpSpPr/>
              <p:nvPr/>
            </p:nvGrpSpPr>
            <p:grpSpPr>
              <a:xfrm>
                <a:off x="2146397" y="610089"/>
                <a:ext cx="3280594" cy="5182851"/>
                <a:chOff x="2146397" y="610089"/>
                <a:chExt cx="3280594" cy="5182851"/>
              </a:xfrm>
              <a:solidFill>
                <a:srgbClr val="000000"/>
              </a:solidFill>
            </p:grpSpPr>
            <p:grpSp>
              <p:nvGrpSpPr>
                <p:cNvPr id="20" name="Content Placeholder 4">
                  <a:extLst>
                    <a:ext uri="{FF2B5EF4-FFF2-40B4-BE49-F238E27FC236}">
                      <a16:creationId xmlns:a16="http://schemas.microsoft.com/office/drawing/2014/main" id="{37F87EDA-3A21-99AE-5FA4-972916ACC5E1}"/>
                    </a:ext>
                  </a:extLst>
                </p:cNvPr>
                <p:cNvGrpSpPr/>
                <p:nvPr/>
              </p:nvGrpSpPr>
              <p:grpSpPr>
                <a:xfrm>
                  <a:off x="2428952" y="5544731"/>
                  <a:ext cx="410193" cy="248209"/>
                  <a:chOff x="2428952" y="5544731"/>
                  <a:chExt cx="410193" cy="248209"/>
                </a:xfrm>
                <a:solidFill>
                  <a:srgbClr val="000000"/>
                </a:solidFill>
              </p:grpSpPr>
              <p:sp>
                <p:nvSpPr>
                  <p:cNvPr id="21" name="Freeform 20">
                    <a:extLst>
                      <a:ext uri="{FF2B5EF4-FFF2-40B4-BE49-F238E27FC236}">
                        <a16:creationId xmlns:a16="http://schemas.microsoft.com/office/drawing/2014/main" id="{9813DAE8-5D36-D9A9-5D76-AC7FEFF1A8A0}"/>
                      </a:ext>
                    </a:extLst>
                  </p:cNvPr>
                  <p:cNvSpPr/>
                  <p:nvPr/>
                </p:nvSpPr>
                <p:spPr>
                  <a:xfrm>
                    <a:off x="2789101" y="5691460"/>
                    <a:ext cx="50044" cy="14298"/>
                  </a:xfrm>
                  <a:custGeom>
                    <a:avLst/>
                    <a:gdLst>
                      <a:gd name="connsiteX0" fmla="*/ 50117 w 50044"/>
                      <a:gd name="connsiteY0" fmla="*/ 384 h 14298"/>
                      <a:gd name="connsiteX1" fmla="*/ 72 w 50044"/>
                      <a:gd name="connsiteY1" fmla="*/ 384 h 142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0044" h="14298">
                        <a:moveTo>
                          <a:pt x="50117" y="384"/>
                        </a:moveTo>
                        <a:lnTo>
                          <a:pt x="72" y="384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589C54ED-8E85-851A-85D6-B8D8A68968D5}"/>
                      </a:ext>
                    </a:extLst>
                  </p:cNvPr>
                  <p:cNvSpPr txBox="1"/>
                  <p:nvPr/>
                </p:nvSpPr>
                <p:spPr>
                  <a:xfrm>
                    <a:off x="2428952" y="5544731"/>
                    <a:ext cx="372217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0%</a:t>
                    </a:r>
                  </a:p>
                </p:txBody>
              </p:sp>
            </p:grpSp>
            <p:grpSp>
              <p:nvGrpSpPr>
                <p:cNvPr id="23" name="Content Placeholder 4">
                  <a:extLst>
                    <a:ext uri="{FF2B5EF4-FFF2-40B4-BE49-F238E27FC236}">
                      <a16:creationId xmlns:a16="http://schemas.microsoft.com/office/drawing/2014/main" id="{349A068C-6AC5-0666-5000-6F48391D5D67}"/>
                    </a:ext>
                  </a:extLst>
                </p:cNvPr>
                <p:cNvGrpSpPr/>
                <p:nvPr/>
              </p:nvGrpSpPr>
              <p:grpSpPr>
                <a:xfrm>
                  <a:off x="2345171" y="4593479"/>
                  <a:ext cx="493974" cy="248209"/>
                  <a:chOff x="2345171" y="4593479"/>
                  <a:chExt cx="493974" cy="248209"/>
                </a:xfrm>
                <a:solidFill>
                  <a:srgbClr val="000000"/>
                </a:solidFill>
              </p:grpSpPr>
              <p:sp>
                <p:nvSpPr>
                  <p:cNvPr id="24" name="Freeform 23">
                    <a:extLst>
                      <a:ext uri="{FF2B5EF4-FFF2-40B4-BE49-F238E27FC236}">
                        <a16:creationId xmlns:a16="http://schemas.microsoft.com/office/drawing/2014/main" id="{434DFAFC-AAF3-EE77-4B67-7F77317D8595}"/>
                      </a:ext>
                    </a:extLst>
                  </p:cNvPr>
                  <p:cNvSpPr/>
                  <p:nvPr/>
                </p:nvSpPr>
                <p:spPr>
                  <a:xfrm>
                    <a:off x="2789101" y="4740207"/>
                    <a:ext cx="50044" cy="14298"/>
                  </a:xfrm>
                  <a:custGeom>
                    <a:avLst/>
                    <a:gdLst>
                      <a:gd name="connsiteX0" fmla="*/ 50117 w 50044"/>
                      <a:gd name="connsiteY0" fmla="*/ 318 h 14298"/>
                      <a:gd name="connsiteX1" fmla="*/ 72 w 50044"/>
                      <a:gd name="connsiteY1" fmla="*/ 318 h 142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0044" h="14298">
                        <a:moveTo>
                          <a:pt x="50117" y="318"/>
                        </a:moveTo>
                        <a:lnTo>
                          <a:pt x="72" y="318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8E0E211-C414-4138-3512-DACAA436CC20}"/>
                      </a:ext>
                    </a:extLst>
                  </p:cNvPr>
                  <p:cNvSpPr txBox="1"/>
                  <p:nvPr/>
                </p:nvSpPr>
                <p:spPr>
                  <a:xfrm>
                    <a:off x="2345171" y="4593479"/>
                    <a:ext cx="444352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20%</a:t>
                    </a:r>
                  </a:p>
                </p:txBody>
              </p:sp>
            </p:grpSp>
            <p:grpSp>
              <p:nvGrpSpPr>
                <p:cNvPr id="26" name="Content Placeholder 4">
                  <a:extLst>
                    <a:ext uri="{FF2B5EF4-FFF2-40B4-BE49-F238E27FC236}">
                      <a16:creationId xmlns:a16="http://schemas.microsoft.com/office/drawing/2014/main" id="{65C7A521-CD70-3A07-2210-59748F6BEB0B}"/>
                    </a:ext>
                  </a:extLst>
                </p:cNvPr>
                <p:cNvGrpSpPr/>
                <p:nvPr/>
              </p:nvGrpSpPr>
              <p:grpSpPr>
                <a:xfrm>
                  <a:off x="2345171" y="3642226"/>
                  <a:ext cx="493974" cy="248209"/>
                  <a:chOff x="2345171" y="3642226"/>
                  <a:chExt cx="493974" cy="248209"/>
                </a:xfrm>
                <a:solidFill>
                  <a:srgbClr val="000000"/>
                </a:solidFill>
              </p:grpSpPr>
              <p:sp>
                <p:nvSpPr>
                  <p:cNvPr id="27" name="Freeform 26">
                    <a:extLst>
                      <a:ext uri="{FF2B5EF4-FFF2-40B4-BE49-F238E27FC236}">
                        <a16:creationId xmlns:a16="http://schemas.microsoft.com/office/drawing/2014/main" id="{6266B708-57F5-F610-54C9-A5E34CF8B2C3}"/>
                      </a:ext>
                    </a:extLst>
                  </p:cNvPr>
                  <p:cNvSpPr/>
                  <p:nvPr/>
                </p:nvSpPr>
                <p:spPr>
                  <a:xfrm>
                    <a:off x="2789101" y="3788955"/>
                    <a:ext cx="50044" cy="14298"/>
                  </a:xfrm>
                  <a:custGeom>
                    <a:avLst/>
                    <a:gdLst>
                      <a:gd name="connsiteX0" fmla="*/ 50117 w 50044"/>
                      <a:gd name="connsiteY0" fmla="*/ 251 h 14298"/>
                      <a:gd name="connsiteX1" fmla="*/ 72 w 50044"/>
                      <a:gd name="connsiteY1" fmla="*/ 251 h 142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0044" h="14298">
                        <a:moveTo>
                          <a:pt x="50117" y="251"/>
                        </a:moveTo>
                        <a:lnTo>
                          <a:pt x="72" y="251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17A3D62-4379-175B-46CD-BE34C30B8AAB}"/>
                      </a:ext>
                    </a:extLst>
                  </p:cNvPr>
                  <p:cNvSpPr txBox="1"/>
                  <p:nvPr/>
                </p:nvSpPr>
                <p:spPr>
                  <a:xfrm>
                    <a:off x="2345171" y="3642226"/>
                    <a:ext cx="444352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40%</a:t>
                    </a:r>
                  </a:p>
                </p:txBody>
              </p:sp>
            </p:grpSp>
            <p:grpSp>
              <p:nvGrpSpPr>
                <p:cNvPr id="29" name="Content Placeholder 4">
                  <a:extLst>
                    <a:ext uri="{FF2B5EF4-FFF2-40B4-BE49-F238E27FC236}">
                      <a16:creationId xmlns:a16="http://schemas.microsoft.com/office/drawing/2014/main" id="{BEBCFCA6-E705-4417-ED6D-737DA8A629AD}"/>
                    </a:ext>
                  </a:extLst>
                </p:cNvPr>
                <p:cNvGrpSpPr/>
                <p:nvPr/>
              </p:nvGrpSpPr>
              <p:grpSpPr>
                <a:xfrm>
                  <a:off x="2345171" y="2690974"/>
                  <a:ext cx="493974" cy="248209"/>
                  <a:chOff x="2345171" y="2690974"/>
                  <a:chExt cx="493974" cy="248209"/>
                </a:xfrm>
                <a:solidFill>
                  <a:srgbClr val="000000"/>
                </a:solidFill>
              </p:grpSpPr>
              <p:sp>
                <p:nvSpPr>
                  <p:cNvPr id="30" name="Freeform 29">
                    <a:extLst>
                      <a:ext uri="{FF2B5EF4-FFF2-40B4-BE49-F238E27FC236}">
                        <a16:creationId xmlns:a16="http://schemas.microsoft.com/office/drawing/2014/main" id="{02B469EB-A8EC-755D-E48A-CF6435E3887D}"/>
                      </a:ext>
                    </a:extLst>
                  </p:cNvPr>
                  <p:cNvSpPr/>
                  <p:nvPr/>
                </p:nvSpPr>
                <p:spPr>
                  <a:xfrm>
                    <a:off x="2789101" y="2837703"/>
                    <a:ext cx="50044" cy="14298"/>
                  </a:xfrm>
                  <a:custGeom>
                    <a:avLst/>
                    <a:gdLst>
                      <a:gd name="connsiteX0" fmla="*/ 50117 w 50044"/>
                      <a:gd name="connsiteY0" fmla="*/ 185 h 14298"/>
                      <a:gd name="connsiteX1" fmla="*/ 72 w 50044"/>
                      <a:gd name="connsiteY1" fmla="*/ 185 h 142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0044" h="14298">
                        <a:moveTo>
                          <a:pt x="50117" y="185"/>
                        </a:moveTo>
                        <a:lnTo>
                          <a:pt x="72" y="185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588D3849-912D-698D-668F-0421B03A105B}"/>
                      </a:ext>
                    </a:extLst>
                  </p:cNvPr>
                  <p:cNvSpPr txBox="1"/>
                  <p:nvPr/>
                </p:nvSpPr>
                <p:spPr>
                  <a:xfrm>
                    <a:off x="2345171" y="2690974"/>
                    <a:ext cx="444352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60%</a:t>
                    </a:r>
                  </a:p>
                </p:txBody>
              </p:sp>
            </p:grpSp>
            <p:grpSp>
              <p:nvGrpSpPr>
                <p:cNvPr id="32" name="Content Placeholder 4">
                  <a:extLst>
                    <a:ext uri="{FF2B5EF4-FFF2-40B4-BE49-F238E27FC236}">
                      <a16:creationId xmlns:a16="http://schemas.microsoft.com/office/drawing/2014/main" id="{230D8A3D-6A4B-7CB8-68A5-4A4C2891AAA5}"/>
                    </a:ext>
                  </a:extLst>
                </p:cNvPr>
                <p:cNvGrpSpPr/>
                <p:nvPr/>
              </p:nvGrpSpPr>
              <p:grpSpPr>
                <a:xfrm>
                  <a:off x="2345171" y="1739722"/>
                  <a:ext cx="493974" cy="248209"/>
                  <a:chOff x="2345171" y="1739722"/>
                  <a:chExt cx="493974" cy="248209"/>
                </a:xfrm>
                <a:solidFill>
                  <a:srgbClr val="000000"/>
                </a:solidFill>
              </p:grpSpPr>
              <p:sp>
                <p:nvSpPr>
                  <p:cNvPr id="33" name="Freeform 32">
                    <a:extLst>
                      <a:ext uri="{FF2B5EF4-FFF2-40B4-BE49-F238E27FC236}">
                        <a16:creationId xmlns:a16="http://schemas.microsoft.com/office/drawing/2014/main" id="{F3B19A30-19CA-B728-B3B8-936D9A06F892}"/>
                      </a:ext>
                    </a:extLst>
                  </p:cNvPr>
                  <p:cNvSpPr/>
                  <p:nvPr/>
                </p:nvSpPr>
                <p:spPr>
                  <a:xfrm>
                    <a:off x="2789101" y="1886450"/>
                    <a:ext cx="50044" cy="14298"/>
                  </a:xfrm>
                  <a:custGeom>
                    <a:avLst/>
                    <a:gdLst>
                      <a:gd name="connsiteX0" fmla="*/ 50117 w 50044"/>
                      <a:gd name="connsiteY0" fmla="*/ 118 h 14298"/>
                      <a:gd name="connsiteX1" fmla="*/ 72 w 50044"/>
                      <a:gd name="connsiteY1" fmla="*/ 118 h 142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0044" h="14298">
                        <a:moveTo>
                          <a:pt x="50117" y="118"/>
                        </a:moveTo>
                        <a:lnTo>
                          <a:pt x="72" y="118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0C561CC-0638-78C2-1B7C-9FE98D1D658F}"/>
                      </a:ext>
                    </a:extLst>
                  </p:cNvPr>
                  <p:cNvSpPr txBox="1"/>
                  <p:nvPr/>
                </p:nvSpPr>
                <p:spPr>
                  <a:xfrm>
                    <a:off x="2345171" y="1739722"/>
                    <a:ext cx="444352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80%</a:t>
                    </a:r>
                  </a:p>
                </p:txBody>
              </p:sp>
            </p:grpSp>
            <p:grpSp>
              <p:nvGrpSpPr>
                <p:cNvPr id="35" name="Content Placeholder 4">
                  <a:extLst>
                    <a:ext uri="{FF2B5EF4-FFF2-40B4-BE49-F238E27FC236}">
                      <a16:creationId xmlns:a16="http://schemas.microsoft.com/office/drawing/2014/main" id="{DCA1B9A9-DCF2-5070-BEA8-37DBED0A3F01}"/>
                    </a:ext>
                  </a:extLst>
                </p:cNvPr>
                <p:cNvGrpSpPr/>
                <p:nvPr/>
              </p:nvGrpSpPr>
              <p:grpSpPr>
                <a:xfrm>
                  <a:off x="2261390" y="788472"/>
                  <a:ext cx="577755" cy="248209"/>
                  <a:chOff x="2261390" y="788472"/>
                  <a:chExt cx="577755" cy="248209"/>
                </a:xfrm>
                <a:solidFill>
                  <a:srgbClr val="000000"/>
                </a:solidFill>
              </p:grpSpPr>
              <p:sp>
                <p:nvSpPr>
                  <p:cNvPr id="36" name="Freeform 35">
                    <a:extLst>
                      <a:ext uri="{FF2B5EF4-FFF2-40B4-BE49-F238E27FC236}">
                        <a16:creationId xmlns:a16="http://schemas.microsoft.com/office/drawing/2014/main" id="{16E20D53-95AE-0F59-B5CE-099A8E7A15C1}"/>
                      </a:ext>
                    </a:extLst>
                  </p:cNvPr>
                  <p:cNvSpPr/>
                  <p:nvPr/>
                </p:nvSpPr>
                <p:spPr>
                  <a:xfrm>
                    <a:off x="2789101" y="935198"/>
                    <a:ext cx="50044" cy="14298"/>
                  </a:xfrm>
                  <a:custGeom>
                    <a:avLst/>
                    <a:gdLst>
                      <a:gd name="connsiteX0" fmla="*/ 50117 w 50044"/>
                      <a:gd name="connsiteY0" fmla="*/ 52 h 14298"/>
                      <a:gd name="connsiteX1" fmla="*/ 72 w 50044"/>
                      <a:gd name="connsiteY1" fmla="*/ 52 h 142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0044" h="14298">
                        <a:moveTo>
                          <a:pt x="50117" y="52"/>
                        </a:moveTo>
                        <a:lnTo>
                          <a:pt x="72" y="52"/>
                        </a:lnTo>
                      </a:path>
                    </a:pathLst>
                  </a:custGeom>
                  <a:solidFill>
                    <a:srgbClr val="000000"/>
                  </a:solidFill>
                  <a:ln w="1143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F4E5B4F-AD23-20EE-E6E8-7F56A59C23AE}"/>
                      </a:ext>
                    </a:extLst>
                  </p:cNvPr>
                  <p:cNvSpPr txBox="1"/>
                  <p:nvPr/>
                </p:nvSpPr>
                <p:spPr>
                  <a:xfrm>
                    <a:off x="2261390" y="788472"/>
                    <a:ext cx="516488" cy="2482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13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100%</a:t>
                    </a:r>
                  </a:p>
                </p:txBody>
              </p:sp>
            </p:grp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64362F8-CEC7-8666-D325-841615C72950}"/>
                    </a:ext>
                  </a:extLst>
                </p:cNvPr>
                <p:cNvSpPr txBox="1"/>
                <p:nvPr/>
              </p:nvSpPr>
              <p:spPr>
                <a:xfrm>
                  <a:off x="2146397" y="610089"/>
                  <a:ext cx="328059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Proportion of Homes with Damage Greater </a:t>
                  </a:r>
                  <a:r>
                    <a:rPr lang="en-US" sz="70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Than Pre-Storm Value of Home</a:t>
                  </a:r>
                </a:p>
                <a:p>
                  <a:pPr algn="ctr"/>
                  <a:endParaRPr lang="en-US" sz="7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endParaRPr>
                </a:p>
              </p:txBody>
            </p:sp>
          </p:grp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3F6C30C5-318A-23B4-C60D-AA2BBFDBDA70}"/>
                  </a:ext>
                </a:extLst>
              </p:cNvPr>
              <p:cNvSpPr/>
              <p:nvPr/>
            </p:nvSpPr>
            <p:spPr>
              <a:xfrm>
                <a:off x="1809652" y="193963"/>
                <a:ext cx="14298" cy="14298"/>
              </a:xfrm>
              <a:custGeom>
                <a:avLst/>
                <a:gdLst/>
                <a:ahLst/>
                <a:cxnLst/>
                <a:rect l="l" t="t" r="r" b="b"/>
                <a:pathLst>
                  <a:path w="14298" h="14298"/>
                </a:pathLst>
              </a:custGeom>
              <a:noFill/>
              <a:ln w="32147" cap="sq">
                <a:solidFill>
                  <a:srgbClr val="42424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57C833BF-230F-A3DC-30C3-0E28A9F20B95}"/>
                  </a:ext>
                </a:extLst>
              </p:cNvPr>
              <p:cNvSpPr/>
              <p:nvPr/>
            </p:nvSpPr>
            <p:spPr>
              <a:xfrm>
                <a:off x="1809652" y="193963"/>
                <a:ext cx="14298" cy="14298"/>
              </a:xfrm>
              <a:custGeom>
                <a:avLst/>
                <a:gdLst/>
                <a:ahLst/>
                <a:cxnLst/>
                <a:rect l="l" t="t" r="r" b="b"/>
                <a:pathLst>
                  <a:path w="14298" h="14298"/>
                </a:pathLst>
              </a:custGeom>
              <a:noFill/>
              <a:ln w="32147" cap="sq">
                <a:solidFill>
                  <a:srgbClr val="42424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F4B3802F-D49C-92FD-4ED7-4AD4BFAF5016}"/>
                  </a:ext>
                </a:extLst>
              </p:cNvPr>
              <p:cNvSpPr/>
              <p:nvPr/>
            </p:nvSpPr>
            <p:spPr>
              <a:xfrm>
                <a:off x="2839145" y="935198"/>
                <a:ext cx="14298" cy="4756261"/>
              </a:xfrm>
              <a:custGeom>
                <a:avLst/>
                <a:gdLst>
                  <a:gd name="connsiteX0" fmla="*/ 0 w 14298"/>
                  <a:gd name="connsiteY0" fmla="*/ 4756262 h 4756261"/>
                  <a:gd name="connsiteX1" fmla="*/ 0 w 14298"/>
                  <a:gd name="connsiteY1" fmla="*/ 0 h 475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98" h="4756261">
                    <a:moveTo>
                      <a:pt x="0" y="4756262"/>
                    </a:moveTo>
                    <a:lnTo>
                      <a:pt x="0" y="0"/>
                    </a:lnTo>
                  </a:path>
                </a:pathLst>
              </a:custGeom>
              <a:noFill/>
              <a:ln w="11430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C2C08FF0-94C8-B9E2-27C3-D0CBDEFABBDE}"/>
                  </a:ext>
                </a:extLst>
              </p:cNvPr>
              <p:cNvSpPr/>
              <p:nvPr/>
            </p:nvSpPr>
            <p:spPr>
              <a:xfrm>
                <a:off x="9222008" y="935198"/>
                <a:ext cx="14298" cy="4756261"/>
              </a:xfrm>
              <a:custGeom>
                <a:avLst/>
                <a:gdLst>
                  <a:gd name="connsiteX0" fmla="*/ 0 w 14298"/>
                  <a:gd name="connsiteY0" fmla="*/ 4756262 h 4756261"/>
                  <a:gd name="connsiteX1" fmla="*/ 0 w 14298"/>
                  <a:gd name="connsiteY1" fmla="*/ 0 h 475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98" h="4756261">
                    <a:moveTo>
                      <a:pt x="0" y="4756262"/>
                    </a:moveTo>
                    <a:lnTo>
                      <a:pt x="0" y="0"/>
                    </a:lnTo>
                  </a:path>
                </a:pathLst>
              </a:custGeom>
              <a:noFill/>
              <a:ln w="11430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8D08D746-4DB9-9B5A-EDD5-5728BF201CE0}"/>
                  </a:ext>
                </a:extLst>
              </p:cNvPr>
              <p:cNvSpPr/>
              <p:nvPr/>
            </p:nvSpPr>
            <p:spPr>
              <a:xfrm>
                <a:off x="2839145" y="5691460"/>
                <a:ext cx="6382862" cy="14298"/>
              </a:xfrm>
              <a:custGeom>
                <a:avLst/>
                <a:gdLst>
                  <a:gd name="connsiteX0" fmla="*/ 0 w 6382862"/>
                  <a:gd name="connsiteY0" fmla="*/ 0 h 14298"/>
                  <a:gd name="connsiteX1" fmla="*/ 6382863 w 6382862"/>
                  <a:gd name="connsiteY1" fmla="*/ 0 h 1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82862" h="14298">
                    <a:moveTo>
                      <a:pt x="0" y="0"/>
                    </a:moveTo>
                    <a:lnTo>
                      <a:pt x="6382863" y="0"/>
                    </a:lnTo>
                  </a:path>
                </a:pathLst>
              </a:custGeom>
              <a:noFill/>
              <a:ln w="11430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00195747-349D-4846-D212-5B06B5C1FD21}"/>
                  </a:ext>
                </a:extLst>
              </p:cNvPr>
              <p:cNvSpPr/>
              <p:nvPr/>
            </p:nvSpPr>
            <p:spPr>
              <a:xfrm>
                <a:off x="2839145" y="935198"/>
                <a:ext cx="6382862" cy="14298"/>
              </a:xfrm>
              <a:custGeom>
                <a:avLst/>
                <a:gdLst>
                  <a:gd name="connsiteX0" fmla="*/ 0 w 6382862"/>
                  <a:gd name="connsiteY0" fmla="*/ 0 h 14298"/>
                  <a:gd name="connsiteX1" fmla="*/ 6382863 w 6382862"/>
                  <a:gd name="connsiteY1" fmla="*/ 0 h 1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82862" h="14298">
                    <a:moveTo>
                      <a:pt x="0" y="0"/>
                    </a:moveTo>
                    <a:lnTo>
                      <a:pt x="6382863" y="0"/>
                    </a:lnTo>
                  </a:path>
                </a:pathLst>
              </a:custGeom>
              <a:noFill/>
              <a:ln w="11430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ACFE7BC-ED28-44ED-361B-00D64C4DC75C}"/>
                  </a:ext>
                </a:extLst>
              </p:cNvPr>
              <p:cNvSpPr txBox="1"/>
              <p:nvPr/>
            </p:nvSpPr>
            <p:spPr>
              <a:xfrm>
                <a:off x="4158182" y="1532078"/>
                <a:ext cx="553357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13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82.5%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5540A78-492C-8722-6972-8D373602E1BC}"/>
                  </a:ext>
                </a:extLst>
              </p:cNvPr>
              <p:cNvSpPr txBox="1"/>
              <p:nvPr/>
            </p:nvSpPr>
            <p:spPr>
              <a:xfrm>
                <a:off x="7349612" y="3649876"/>
                <a:ext cx="553357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13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37.9%</a:t>
                </a:r>
              </a:p>
            </p:txBody>
          </p:sp>
          <p:grpSp>
            <p:nvGrpSpPr>
              <p:cNvPr id="49" name="Content Placeholder 4">
                <a:extLst>
                  <a:ext uri="{FF2B5EF4-FFF2-40B4-BE49-F238E27FC236}">
                    <a16:creationId xmlns:a16="http://schemas.microsoft.com/office/drawing/2014/main" id="{892E70F2-C8FE-45A8-F38E-B94508306277}"/>
                  </a:ext>
                </a:extLst>
              </p:cNvPr>
              <p:cNvGrpSpPr/>
              <p:nvPr/>
            </p:nvGrpSpPr>
            <p:grpSpPr>
              <a:xfrm>
                <a:off x="2789101" y="-38062"/>
                <a:ext cx="6208149" cy="686667"/>
                <a:chOff x="2789101" y="-38062"/>
                <a:chExt cx="6208149" cy="686667"/>
              </a:xfrm>
              <a:solidFill>
                <a:srgbClr val="000000"/>
              </a:solidFill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350CDBA-234C-6C37-AF2F-B49B5856EAF4}"/>
                    </a:ext>
                  </a:extLst>
                </p:cNvPr>
                <p:cNvSpPr txBox="1"/>
                <p:nvPr/>
              </p:nvSpPr>
              <p:spPr>
                <a:xfrm>
                  <a:off x="2789101" y="-38062"/>
                  <a:ext cx="620814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Low Income Households Inequitably Impacted by Road Home’s </a:t>
                  </a:r>
                  <a:r>
                    <a:rPr lang="en-US" sz="1600" b="1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Property Value Based Grant Funding Calculations.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3D7AC9E-E09E-B909-C93F-6144E80465F7}"/>
                    </a:ext>
                  </a:extLst>
                </p:cNvPr>
                <p:cNvSpPr txBox="1"/>
                <p:nvPr/>
              </p:nvSpPr>
              <p:spPr>
                <a:xfrm>
                  <a:off x="4163349" y="400396"/>
                  <a:ext cx="184731" cy="2482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endParaRPr lang="en-US" sz="1013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8170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140</Words>
  <Application>Microsoft Macintosh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Jenny C Wu</dc:creator>
  <cp:lastModifiedBy>Jenny C Wu</cp:lastModifiedBy>
  <cp:revision>3</cp:revision>
  <dcterms:created xsi:type="dcterms:W3CDTF">2025-11-04T20:06:43Z</dcterms:created>
  <dcterms:modified xsi:type="dcterms:W3CDTF">2025-11-06T17:42:35Z</dcterms:modified>
</cp:coreProperties>
</file>